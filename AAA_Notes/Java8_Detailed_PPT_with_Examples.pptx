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70" r:id="rId4"/>
    <p:sldId id="271" r:id="rId5"/>
    <p:sldId id="272" r:id="rId6"/>
    <p:sldId id="273" r:id="rId7"/>
    <p:sldId id="258" r:id="rId8"/>
    <p:sldId id="274" r:id="rId9"/>
    <p:sldId id="275" r:id="rId10"/>
    <p:sldId id="276" r:id="rId11"/>
    <p:sldId id="277" r:id="rId12"/>
    <p:sldId id="278" r:id="rId13"/>
    <p:sldId id="259" r:id="rId14"/>
    <p:sldId id="279" r:id="rId15"/>
    <p:sldId id="280" r:id="rId16"/>
    <p:sldId id="281" r:id="rId17"/>
    <p:sldId id="282" r:id="rId18"/>
    <p:sldId id="260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61" r:id="rId34"/>
    <p:sldId id="262" r:id="rId35"/>
    <p:sldId id="263" r:id="rId36"/>
    <p:sldId id="264" r:id="rId37"/>
    <p:sldId id="297" r:id="rId38"/>
    <p:sldId id="298" r:id="rId39"/>
    <p:sldId id="299" r:id="rId40"/>
    <p:sldId id="265" r:id="rId41"/>
    <p:sldId id="269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742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218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12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5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95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26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53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911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41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520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2228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6276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3015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367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3436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445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56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Java 8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rPr sz="2000">
                <a:solidFill>
                  <a:srgbClr val="000000"/>
                </a:solidFill>
                <a:latin typeface="Times New Roman"/>
              </a:rPr>
              <a:t>Released: March 2014</a:t>
            </a:r>
            <a:br/>
            <a:r>
              <a:rPr sz="2000">
                <a:solidFill>
                  <a:srgbClr val="000000"/>
                </a:solidFill>
                <a:latin typeface="Times New Roman"/>
              </a:rPr>
              <a:t>Java 8 introduced major functional programming features.</a:t>
            </a:r>
            <a:br/>
            <a:br/>
            <a:r>
              <a:rPr sz="2000">
                <a:solidFill>
                  <a:srgbClr val="000000"/>
                </a:solidFill>
                <a:latin typeface="Times New Roman"/>
              </a:rPr>
              <a:t>Key Features:</a:t>
            </a:r>
            <a:br/>
            <a:r>
              <a:rPr sz="2000">
                <a:solidFill>
                  <a:srgbClr val="000000"/>
                </a:solidFill>
                <a:latin typeface="Times New Roman"/>
              </a:rPr>
              <a:t>- Lambda Expressions</a:t>
            </a:r>
            <a:br/>
            <a:r>
              <a:rPr sz="2000">
                <a:solidFill>
                  <a:srgbClr val="000000"/>
                </a:solidFill>
                <a:latin typeface="Times New Roman"/>
              </a:rPr>
              <a:t>- Stream API</a:t>
            </a:r>
            <a:br/>
            <a:r>
              <a:rPr sz="2000">
                <a:solidFill>
                  <a:srgbClr val="000000"/>
                </a:solidFill>
                <a:latin typeface="Times New Roman"/>
              </a:rPr>
              <a:t>- Functional Interfaces</a:t>
            </a:r>
            <a:br/>
            <a:r>
              <a:rPr sz="2000">
                <a:solidFill>
                  <a:srgbClr val="000000"/>
                </a:solidFill>
                <a:latin typeface="Times New Roman"/>
              </a:rPr>
              <a:t>- Optional Class</a:t>
            </a:r>
            <a:br/>
            <a:r>
              <a:rPr sz="2000">
                <a:solidFill>
                  <a:srgbClr val="000000"/>
                </a:solidFill>
                <a:latin typeface="Times New Roman"/>
              </a:rPr>
              <a:t>- Date and Time API</a:t>
            </a:r>
            <a:br/>
            <a:r>
              <a:rPr sz="2000">
                <a:solidFill>
                  <a:srgbClr val="000000"/>
                </a:solidFill>
                <a:latin typeface="Times New Roman"/>
              </a:rPr>
              <a:t>- Default and Static Methods in Interfaces</a:t>
            </a:r>
            <a:br/>
            <a:r>
              <a:rPr sz="2000">
                <a:solidFill>
                  <a:srgbClr val="000000"/>
                </a:solidFill>
                <a:latin typeface="Times New Roman"/>
              </a:rPr>
              <a:t>- CompletableFuture (Async)</a:t>
            </a:r>
            <a:br/>
            <a:r>
              <a:rPr sz="2000">
                <a:solidFill>
                  <a:srgbClr val="000000"/>
                </a:solidFill>
                <a:latin typeface="Times New Roman"/>
              </a:rPr>
              <a:t>- Nashorn JavaScript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Expressions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109" y="1659145"/>
            <a:ext cx="6347714" cy="3880773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sz="2000" dirty="0">
                <a:solidFill>
                  <a:srgbClr val="000000"/>
                </a:solidFill>
                <a:latin typeface="Times New Roman"/>
              </a:rPr>
              <a:t>Lambda expressions provide a clear and concise way to represent one method interface.</a:t>
            </a:r>
            <a:br>
              <a:rPr dirty="0"/>
            </a:b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Syntax: (parameters) -&gt; expression or { statements }</a:t>
            </a:r>
            <a:br>
              <a:rPr dirty="0"/>
            </a:b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Example: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List&lt;Integer&gt; numbers =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Arrays.asList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(1, 2, 3, 4);</a:t>
            </a:r>
            <a:br>
              <a:rPr dirty="0"/>
            </a:br>
            <a:r>
              <a:rPr sz="2000" dirty="0" err="1">
                <a:solidFill>
                  <a:srgbClr val="000000"/>
                </a:solidFill>
                <a:latin typeface="Times New Roman"/>
              </a:rPr>
              <a:t>numbers.forEach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(n -&gt;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System.out.println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(n));</a:t>
            </a:r>
            <a:br>
              <a:rPr dirty="0"/>
            </a:b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Benefits: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- Reduces boilerplate code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- Enables functional programming style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- Used heavily with Streams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C5CFD-20C6-C9A3-7762-BA1F7B495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894736"/>
            <a:ext cx="6347714" cy="51466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1. // Simple lambda with one parameter</a:t>
            </a:r>
          </a:p>
          <a:p>
            <a:pPr marL="0" indent="0">
              <a:buNone/>
            </a:pPr>
            <a:r>
              <a:rPr lang="en-IN" dirty="0"/>
              <a:t>(name) -&gt; </a:t>
            </a:r>
            <a:r>
              <a:rPr lang="en-IN" dirty="0" err="1"/>
              <a:t>System.out.println</a:t>
            </a:r>
            <a:r>
              <a:rPr lang="en-IN" dirty="0"/>
              <a:t>("Hello " + name);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2. // Lambda with multiple parameters</a:t>
            </a:r>
          </a:p>
          <a:p>
            <a:pPr marL="0" indent="0">
              <a:buNone/>
            </a:pPr>
            <a:r>
              <a:rPr lang="en-IN" dirty="0"/>
              <a:t>(a, b) -&gt; a + b;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3. // Multi-line lambda</a:t>
            </a:r>
          </a:p>
          <a:p>
            <a:pPr marL="0" indent="0">
              <a:buNone/>
            </a:pPr>
            <a:r>
              <a:rPr lang="en-IN" dirty="0"/>
              <a:t>(a, b) -&gt; {</a:t>
            </a:r>
          </a:p>
          <a:p>
            <a:pPr marL="0" indent="0">
              <a:buNone/>
            </a:pPr>
            <a:r>
              <a:rPr lang="en-IN" dirty="0"/>
              <a:t>    int sum = a + b;</a:t>
            </a:r>
          </a:p>
          <a:p>
            <a:pPr marL="0" indent="0">
              <a:buNone/>
            </a:pPr>
            <a:r>
              <a:rPr lang="en-IN" dirty="0"/>
              <a:t>    return sum;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5551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9C908A-14F2-B85E-D445-76405F5D258C}"/>
              </a:ext>
            </a:extLst>
          </p:cNvPr>
          <p:cNvSpPr txBox="1"/>
          <p:nvPr/>
        </p:nvSpPr>
        <p:spPr>
          <a:xfrm>
            <a:off x="742335" y="450698"/>
            <a:ext cx="6100917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3.List&lt;String&gt; names = </a:t>
            </a:r>
            <a:r>
              <a:rPr lang="en-IN" dirty="0" err="1"/>
              <a:t>Arrays.asList</a:t>
            </a:r>
            <a:r>
              <a:rPr lang="en-IN" dirty="0"/>
              <a:t>("Ravi", "Amit", "Kiran", "John");</a:t>
            </a:r>
          </a:p>
          <a:p>
            <a:endParaRPr lang="en-IN" dirty="0"/>
          </a:p>
          <a:p>
            <a:r>
              <a:rPr lang="en-IN" dirty="0"/>
              <a:t>4. // Traditional way</a:t>
            </a:r>
          </a:p>
          <a:p>
            <a:r>
              <a:rPr lang="en-IN" dirty="0" err="1"/>
              <a:t>Collections.sort</a:t>
            </a:r>
            <a:r>
              <a:rPr lang="en-IN" dirty="0"/>
              <a:t>(names, new Comparator&lt;String&gt;() {</a:t>
            </a:r>
          </a:p>
          <a:p>
            <a:r>
              <a:rPr lang="en-IN" dirty="0"/>
              <a:t>    public int compare(String a, String b) {</a:t>
            </a:r>
          </a:p>
          <a:p>
            <a:r>
              <a:rPr lang="en-IN" dirty="0"/>
              <a:t>        return </a:t>
            </a:r>
            <a:r>
              <a:rPr lang="en-IN" dirty="0" err="1"/>
              <a:t>a.compareTo</a:t>
            </a:r>
            <a:r>
              <a:rPr lang="en-IN" dirty="0"/>
              <a:t>(b);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});</a:t>
            </a:r>
          </a:p>
          <a:p>
            <a:endParaRPr lang="en-IN" dirty="0"/>
          </a:p>
          <a:p>
            <a:r>
              <a:rPr lang="en-IN" dirty="0"/>
              <a:t>5. // Lambda way</a:t>
            </a:r>
          </a:p>
          <a:p>
            <a:r>
              <a:rPr lang="en-IN" dirty="0" err="1"/>
              <a:t>Collections.sort</a:t>
            </a:r>
            <a:r>
              <a:rPr lang="en-IN" dirty="0"/>
              <a:t>(names, (a, b) -&gt; </a:t>
            </a:r>
            <a:r>
              <a:rPr lang="en-IN" dirty="0" err="1"/>
              <a:t>a.compareTo</a:t>
            </a:r>
            <a:r>
              <a:rPr lang="en-IN" dirty="0"/>
              <a:t>(b));</a:t>
            </a:r>
          </a:p>
          <a:p>
            <a:endParaRPr lang="en-IN" dirty="0"/>
          </a:p>
          <a:p>
            <a:r>
              <a:rPr lang="en-IN" dirty="0"/>
              <a:t>6. // Even shorter (Java 8)</a:t>
            </a:r>
          </a:p>
          <a:p>
            <a:r>
              <a:rPr lang="en-IN" dirty="0" err="1"/>
              <a:t>names.sort</a:t>
            </a:r>
            <a:r>
              <a:rPr lang="en-IN" dirty="0"/>
              <a:t>(String::</a:t>
            </a:r>
            <a:r>
              <a:rPr lang="en-IN" dirty="0" err="1"/>
              <a:t>compareTo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7.  List&lt;Integer&gt; numbers = </a:t>
            </a:r>
            <a:r>
              <a:rPr lang="en-IN" dirty="0" err="1"/>
              <a:t>Arrays.asList</a:t>
            </a:r>
            <a:r>
              <a:rPr lang="en-IN" dirty="0"/>
              <a:t>(1, 2, 3, 4, 5);</a:t>
            </a:r>
          </a:p>
          <a:p>
            <a:endParaRPr lang="en-IN" sz="1100" dirty="0"/>
          </a:p>
          <a:p>
            <a:r>
              <a:rPr lang="en-IN" dirty="0" err="1"/>
              <a:t>numbers.forEach</a:t>
            </a:r>
            <a:r>
              <a:rPr lang="en-IN" dirty="0"/>
              <a:t>(n -&gt; </a:t>
            </a:r>
            <a:r>
              <a:rPr lang="en-IN" dirty="0" err="1"/>
              <a:t>System.out.println</a:t>
            </a:r>
            <a:r>
              <a:rPr lang="en-IN" dirty="0"/>
              <a:t>("Number: " + n));</a:t>
            </a:r>
          </a:p>
          <a:p>
            <a:r>
              <a:rPr lang="en-IN" dirty="0" err="1"/>
              <a:t>numbers.forEach</a:t>
            </a:r>
            <a:r>
              <a:rPr lang="en-IN" dirty="0"/>
              <a:t>(</a:t>
            </a:r>
            <a:r>
              <a:rPr lang="en-IN" dirty="0" err="1"/>
              <a:t>System.out</a:t>
            </a:r>
            <a:r>
              <a:rPr lang="en-IN" dirty="0"/>
              <a:t>::</a:t>
            </a:r>
            <a:r>
              <a:rPr lang="en-IN" dirty="0" err="1"/>
              <a:t>println</a:t>
            </a:r>
            <a:r>
              <a:rPr lang="en-IN" dirty="0"/>
              <a:t>);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6141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83FC03-B3D5-1063-A5F0-A0A59D9EC25F}"/>
              </a:ext>
            </a:extLst>
          </p:cNvPr>
          <p:cNvSpPr txBox="1"/>
          <p:nvPr/>
        </p:nvSpPr>
        <p:spPr>
          <a:xfrm>
            <a:off x="781663" y="328813"/>
            <a:ext cx="694649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8. List&lt;String&gt; names = </a:t>
            </a:r>
            <a:r>
              <a:rPr lang="en-IN" dirty="0" err="1"/>
              <a:t>Arrays.asList</a:t>
            </a:r>
            <a:r>
              <a:rPr lang="en-IN" dirty="0"/>
              <a:t>("Ravi", "Amit", "Anita", “Atharva");</a:t>
            </a:r>
          </a:p>
          <a:p>
            <a:endParaRPr lang="en-IN" dirty="0"/>
          </a:p>
          <a:p>
            <a:r>
              <a:rPr lang="en-IN" dirty="0"/>
              <a:t>List&lt;String&gt; result = </a:t>
            </a:r>
            <a:r>
              <a:rPr lang="en-IN" dirty="0" err="1"/>
              <a:t>names.stream</a:t>
            </a:r>
            <a:r>
              <a:rPr lang="en-IN" dirty="0"/>
              <a:t>()</a:t>
            </a:r>
          </a:p>
          <a:p>
            <a:r>
              <a:rPr lang="en-IN" dirty="0"/>
              <a:t>                           .filter(n -&gt; </a:t>
            </a:r>
            <a:r>
              <a:rPr lang="en-IN" dirty="0" err="1"/>
              <a:t>n.startsWith</a:t>
            </a:r>
            <a:r>
              <a:rPr lang="en-IN" dirty="0"/>
              <a:t>("A"))</a:t>
            </a:r>
          </a:p>
          <a:p>
            <a:r>
              <a:rPr lang="en-IN" dirty="0"/>
              <a:t>                           .collect(</a:t>
            </a:r>
            <a:r>
              <a:rPr lang="en-IN" dirty="0" err="1"/>
              <a:t>Collectors.toList</a:t>
            </a:r>
            <a:r>
              <a:rPr lang="en-IN" dirty="0"/>
              <a:t>());</a:t>
            </a:r>
          </a:p>
          <a:p>
            <a:endParaRPr lang="en-IN" dirty="0"/>
          </a:p>
          <a:p>
            <a:r>
              <a:rPr lang="en-IN" dirty="0" err="1"/>
              <a:t>System.out.println</a:t>
            </a:r>
            <a:r>
              <a:rPr lang="en-IN" dirty="0"/>
              <a:t>(result);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9. // Before Java 8</a:t>
            </a:r>
          </a:p>
          <a:p>
            <a:r>
              <a:rPr lang="en-IN" dirty="0"/>
              <a:t>Thread t1 = new Thread(new Runnable() {</a:t>
            </a:r>
          </a:p>
          <a:p>
            <a:r>
              <a:rPr lang="en-IN" dirty="0"/>
              <a:t>    public void run()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("Running thread without lambda");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});</a:t>
            </a:r>
          </a:p>
          <a:p>
            <a:r>
              <a:rPr lang="en-IN" dirty="0"/>
              <a:t>t1.start();</a:t>
            </a:r>
          </a:p>
          <a:p>
            <a:endParaRPr lang="en-IN" dirty="0"/>
          </a:p>
          <a:p>
            <a:r>
              <a:rPr lang="en-IN" dirty="0"/>
              <a:t>// Using Lambda</a:t>
            </a:r>
          </a:p>
          <a:p>
            <a:r>
              <a:rPr lang="en-IN" dirty="0"/>
              <a:t>Thread t2 = new Thread(() -&gt; </a:t>
            </a:r>
            <a:r>
              <a:rPr lang="en-IN" dirty="0" err="1"/>
              <a:t>System.out.println</a:t>
            </a:r>
            <a:r>
              <a:rPr lang="en-IN" dirty="0"/>
              <a:t>("Running thread with lambda"));</a:t>
            </a:r>
          </a:p>
          <a:p>
            <a:r>
              <a:rPr lang="en-IN" dirty="0"/>
              <a:t>t2.start();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67104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51414F-14DF-2045-AF38-648BDD8CACB1}"/>
              </a:ext>
            </a:extLst>
          </p:cNvPr>
          <p:cNvSpPr txBox="1"/>
          <p:nvPr/>
        </p:nvSpPr>
        <p:spPr>
          <a:xfrm>
            <a:off x="722670" y="599030"/>
            <a:ext cx="6533535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Custom Functional Interface Example</a:t>
            </a:r>
          </a:p>
          <a:p>
            <a:endParaRPr lang="en-IN" dirty="0"/>
          </a:p>
          <a:p>
            <a:r>
              <a:rPr lang="en-IN" dirty="0"/>
              <a:t>@FunctionalInterface</a:t>
            </a:r>
          </a:p>
          <a:p>
            <a:r>
              <a:rPr lang="en-IN" dirty="0"/>
              <a:t>interface Calculator {</a:t>
            </a:r>
          </a:p>
          <a:p>
            <a:r>
              <a:rPr lang="en-IN" dirty="0"/>
              <a:t>    int operate(int a, int b);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public class Test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Calculator add = (a, b) -&gt; a + b;</a:t>
            </a:r>
          </a:p>
          <a:p>
            <a:r>
              <a:rPr lang="en-IN" dirty="0"/>
              <a:t>        Calculator multiply = (a, b) -&gt; a * b;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("Sum: " + </a:t>
            </a:r>
            <a:r>
              <a:rPr lang="en-IN" dirty="0" err="1"/>
              <a:t>add.operate</a:t>
            </a:r>
            <a:r>
              <a:rPr lang="en-IN" dirty="0"/>
              <a:t>(5, 3));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("Product: " + </a:t>
            </a:r>
            <a:r>
              <a:rPr lang="en-IN" dirty="0" err="1"/>
              <a:t>multiply.operate</a:t>
            </a:r>
            <a:r>
              <a:rPr lang="en-IN" dirty="0"/>
              <a:t>(5, 3));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80268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Interfaces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/>
          </a:p>
          <a:p>
            <a:r>
              <a:rPr sz="2000">
                <a:solidFill>
                  <a:srgbClr val="000000"/>
                </a:solidFill>
                <a:latin typeface="Times New Roman"/>
              </a:rPr>
              <a:t>A functional interface has exactly one abstract method.</a:t>
            </a:r>
            <a:br/>
            <a:br/>
            <a:r>
              <a:rPr sz="2000">
                <a:solidFill>
                  <a:srgbClr val="000000"/>
                </a:solidFill>
                <a:latin typeface="Times New Roman"/>
              </a:rPr>
              <a:t>Examples: Runnable, Callable, Comparator, Predicate, Function, Consumer</a:t>
            </a:r>
            <a:br/>
            <a:br/>
            <a:r>
              <a:rPr sz="2000">
                <a:solidFill>
                  <a:srgbClr val="000000"/>
                </a:solidFill>
                <a:latin typeface="Times New Roman"/>
              </a:rPr>
              <a:t>Example:</a:t>
            </a:r>
            <a:br/>
            <a:r>
              <a:rPr sz="2000">
                <a:solidFill>
                  <a:srgbClr val="000000"/>
                </a:solidFill>
                <a:latin typeface="Times New Roman"/>
              </a:rPr>
              <a:t>@FunctionalInterface</a:t>
            </a:r>
            <a:br/>
            <a:r>
              <a:rPr sz="2000">
                <a:solidFill>
                  <a:srgbClr val="000000"/>
                </a:solidFill>
                <a:latin typeface="Times New Roman"/>
              </a:rPr>
              <a:t>interface Greeting {</a:t>
            </a:r>
            <a:br/>
            <a:r>
              <a:rPr sz="2000">
                <a:solidFill>
                  <a:srgbClr val="000000"/>
                </a:solidFill>
                <a:latin typeface="Times New Roman"/>
              </a:rPr>
              <a:t>   void sayHello(String name);</a:t>
            </a:r>
            <a:br/>
            <a:r>
              <a:rPr sz="2000">
                <a:solidFill>
                  <a:srgbClr val="000000"/>
                </a:solidFill>
                <a:latin typeface="Times New Roman"/>
              </a:rPr>
              <a:t>}</a:t>
            </a:r>
            <a:br/>
            <a:br/>
            <a:r>
              <a:rPr sz="2000">
                <a:solidFill>
                  <a:srgbClr val="000000"/>
                </a:solidFill>
                <a:latin typeface="Times New Roman"/>
              </a:rPr>
              <a:t>Greeting g = name -&gt; System.out.println("Hello " + name);</a:t>
            </a:r>
            <a:br/>
            <a:r>
              <a:rPr sz="2000">
                <a:solidFill>
                  <a:srgbClr val="000000"/>
                </a:solidFill>
                <a:latin typeface="Times New Roman"/>
              </a:rPr>
              <a:t>g.sayHello("Java 8");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0701C5-310D-080D-8364-99D9D1B97AF5}"/>
              </a:ext>
            </a:extLst>
          </p:cNvPr>
          <p:cNvSpPr txBox="1"/>
          <p:nvPr/>
        </p:nvSpPr>
        <p:spPr>
          <a:xfrm>
            <a:off x="663677" y="560549"/>
            <a:ext cx="682850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Using Predicates and Functions</a:t>
            </a:r>
          </a:p>
          <a:p>
            <a:endParaRPr lang="en-IN" dirty="0"/>
          </a:p>
          <a:p>
            <a:r>
              <a:rPr lang="en-IN" dirty="0"/>
              <a:t>Predicate&lt;Integer&gt; </a:t>
            </a:r>
            <a:r>
              <a:rPr lang="en-IN" dirty="0" err="1"/>
              <a:t>isEven</a:t>
            </a:r>
            <a:r>
              <a:rPr lang="en-IN" dirty="0"/>
              <a:t> = n -&gt; n % 2 == 0;</a:t>
            </a:r>
          </a:p>
          <a:p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isEven.test</a:t>
            </a:r>
            <a:r>
              <a:rPr lang="en-IN" dirty="0"/>
              <a:t>(10)); // true</a:t>
            </a:r>
          </a:p>
          <a:p>
            <a:endParaRPr lang="en-IN" dirty="0"/>
          </a:p>
          <a:p>
            <a:r>
              <a:rPr lang="en-IN" dirty="0"/>
              <a:t>Function&lt;String, Integer&gt; length = s -&gt; </a:t>
            </a:r>
            <a:r>
              <a:rPr lang="en-IN" dirty="0" err="1"/>
              <a:t>s.length</a:t>
            </a:r>
            <a:r>
              <a:rPr lang="en-IN" dirty="0"/>
              <a:t>();</a:t>
            </a:r>
          </a:p>
          <a:p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length.apply</a:t>
            </a:r>
            <a:r>
              <a:rPr lang="en-IN" dirty="0"/>
              <a:t>("Lambda")); 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java.util.function.Predicate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PredicateExample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Predicate&lt;Integer&gt; </a:t>
            </a:r>
            <a:r>
              <a:rPr lang="en-IN" dirty="0" err="1"/>
              <a:t>isEven</a:t>
            </a:r>
            <a:r>
              <a:rPr lang="en-IN" dirty="0"/>
              <a:t> = n -&gt; n % 2 == 0;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isEven.test</a:t>
            </a:r>
            <a:r>
              <a:rPr lang="en-IN" dirty="0"/>
              <a:t>(10)); // true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isEven.test</a:t>
            </a:r>
            <a:r>
              <a:rPr lang="en-IN" dirty="0"/>
              <a:t>(7));  // false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3625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1F2663-FA32-DE0E-B3E6-19869F502FBB}"/>
              </a:ext>
            </a:extLst>
          </p:cNvPr>
          <p:cNvSpPr txBox="1"/>
          <p:nvPr/>
        </p:nvSpPr>
        <p:spPr>
          <a:xfrm>
            <a:off x="417871" y="219811"/>
            <a:ext cx="70054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Function&lt;T, R&gt;</a:t>
            </a:r>
          </a:p>
          <a:p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java.util.function.Function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FunctionExample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Function&lt;String, Integer&gt; </a:t>
            </a:r>
            <a:r>
              <a:rPr lang="en-IN" dirty="0" err="1"/>
              <a:t>getLength</a:t>
            </a:r>
            <a:r>
              <a:rPr lang="en-IN" dirty="0"/>
              <a:t> = s -&gt; </a:t>
            </a:r>
            <a:r>
              <a:rPr lang="en-IN" dirty="0" err="1"/>
              <a:t>s.length</a:t>
            </a:r>
            <a:r>
              <a:rPr lang="en-IN" dirty="0"/>
              <a:t>();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getLength.apply</a:t>
            </a:r>
            <a:r>
              <a:rPr lang="en-IN" dirty="0"/>
              <a:t>("Lambda")); // 6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058B62-886E-2B1C-B61C-9F9DDE95A174}"/>
              </a:ext>
            </a:extLst>
          </p:cNvPr>
          <p:cNvSpPr txBox="1"/>
          <p:nvPr/>
        </p:nvSpPr>
        <p:spPr>
          <a:xfrm>
            <a:off x="290050" y="3195983"/>
            <a:ext cx="769374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3️⃣ Consumer&lt;T&gt;</a:t>
            </a:r>
          </a:p>
          <a:p>
            <a:endParaRPr lang="en-IN" b="1" dirty="0"/>
          </a:p>
          <a:p>
            <a:r>
              <a:rPr lang="en-IN" dirty="0"/>
              <a:t>import </a:t>
            </a:r>
            <a:r>
              <a:rPr lang="en-IN" dirty="0" err="1"/>
              <a:t>java.util.function.Consumer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java.util.Arrays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java.util.List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ConsumerExample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Consumer&lt;String&gt; </a:t>
            </a:r>
            <a:r>
              <a:rPr lang="en-IN" dirty="0" err="1"/>
              <a:t>printUpper</a:t>
            </a:r>
            <a:r>
              <a:rPr lang="en-IN" dirty="0"/>
              <a:t> = s -&gt;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s.toUpperCase</a:t>
            </a:r>
            <a:r>
              <a:rPr lang="en-IN" dirty="0"/>
              <a:t>());</a:t>
            </a:r>
          </a:p>
          <a:p>
            <a:r>
              <a:rPr lang="en-IN" dirty="0"/>
              <a:t>        List&lt;String&gt; list = </a:t>
            </a:r>
            <a:r>
              <a:rPr lang="en-IN" dirty="0" err="1"/>
              <a:t>Arrays.asList</a:t>
            </a:r>
            <a:r>
              <a:rPr lang="en-IN" dirty="0"/>
              <a:t>("java", "lambda", "stream");</a:t>
            </a:r>
          </a:p>
          <a:p>
            <a:r>
              <a:rPr lang="en-IN" dirty="0"/>
              <a:t>        </a:t>
            </a:r>
            <a:r>
              <a:rPr lang="en-IN" dirty="0" err="1"/>
              <a:t>list.forEach</a:t>
            </a:r>
            <a:r>
              <a:rPr lang="en-IN" dirty="0"/>
              <a:t>(</a:t>
            </a:r>
            <a:r>
              <a:rPr lang="en-IN" dirty="0" err="1"/>
              <a:t>printUpper</a:t>
            </a:r>
            <a:r>
              <a:rPr lang="en-IN" dirty="0"/>
              <a:t>);</a:t>
            </a:r>
          </a:p>
          <a:p>
            <a:r>
              <a:rPr lang="en-IN" dirty="0"/>
              <a:t>    }}</a:t>
            </a:r>
          </a:p>
        </p:txBody>
      </p:sp>
    </p:spTree>
    <p:extLst>
      <p:ext uri="{BB962C8B-B14F-4D97-AF65-F5344CB8AC3E}">
        <p14:creationId xmlns:p14="http://schemas.microsoft.com/office/powerpoint/2010/main" val="3085116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0A2A70-F225-DA3D-09B1-ABFBE26BAB45}"/>
              </a:ext>
            </a:extLst>
          </p:cNvPr>
          <p:cNvSpPr txBox="1"/>
          <p:nvPr/>
        </p:nvSpPr>
        <p:spPr>
          <a:xfrm>
            <a:off x="427704" y="485282"/>
            <a:ext cx="712347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Supplier&lt;T&gt;</a:t>
            </a:r>
          </a:p>
          <a:p>
            <a:endParaRPr lang="en-IN" b="1" dirty="0"/>
          </a:p>
          <a:p>
            <a:r>
              <a:rPr lang="en-IN" dirty="0"/>
              <a:t>import </a:t>
            </a:r>
            <a:r>
              <a:rPr lang="en-IN" dirty="0" err="1"/>
              <a:t>java.util.function.Supplier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java.util.Random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SupplierExample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Supplier&lt;Integer&gt; </a:t>
            </a:r>
            <a:r>
              <a:rPr lang="en-IN" dirty="0" err="1"/>
              <a:t>randomSupplier</a:t>
            </a:r>
            <a:r>
              <a:rPr lang="en-IN" dirty="0"/>
              <a:t> = () -&gt; new Random().</a:t>
            </a:r>
            <a:r>
              <a:rPr lang="en-IN" dirty="0" err="1"/>
              <a:t>nextInt</a:t>
            </a:r>
            <a:r>
              <a:rPr lang="en-IN" dirty="0"/>
              <a:t>(100);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("Random Number: " + </a:t>
            </a:r>
            <a:r>
              <a:rPr lang="en-IN" dirty="0" err="1"/>
              <a:t>randomSupplier.get</a:t>
            </a:r>
            <a:r>
              <a:rPr lang="en-IN" dirty="0"/>
              <a:t>());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81178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85D450-8D89-294A-A5FE-93DB0E7136FE}"/>
              </a:ext>
            </a:extLst>
          </p:cNvPr>
          <p:cNvSpPr txBox="1"/>
          <p:nvPr/>
        </p:nvSpPr>
        <p:spPr>
          <a:xfrm>
            <a:off x="349045" y="328813"/>
            <a:ext cx="700548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5️⃣ </a:t>
            </a:r>
            <a:r>
              <a:rPr lang="fr-FR" b="1" dirty="0" err="1"/>
              <a:t>BiFunction</a:t>
            </a:r>
            <a:r>
              <a:rPr lang="fr-FR" b="1" dirty="0"/>
              <a:t>&lt;T, U, R&gt;</a:t>
            </a:r>
          </a:p>
          <a:p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java.util.function.BiFunction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BiFunctionExample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</a:t>
            </a:r>
            <a:r>
              <a:rPr lang="en-IN" dirty="0" err="1"/>
              <a:t>BiFunction</a:t>
            </a:r>
            <a:r>
              <a:rPr lang="en-IN" dirty="0"/>
              <a:t>&lt;Integer, Integer, Integer&gt; add = (a, b) -&gt; a + b;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("Sum: " + </a:t>
            </a:r>
            <a:r>
              <a:rPr lang="en-IN" dirty="0" err="1"/>
              <a:t>add.apply</a:t>
            </a:r>
            <a:r>
              <a:rPr lang="en-IN" dirty="0"/>
              <a:t>(10, 20)); // 30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5467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74D39F-4812-FF36-BB27-24C3614826C6}"/>
              </a:ext>
            </a:extLst>
          </p:cNvPr>
          <p:cNvSpPr txBox="1"/>
          <p:nvPr/>
        </p:nvSpPr>
        <p:spPr>
          <a:xfrm>
            <a:off x="486695" y="309148"/>
            <a:ext cx="787072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UnaryOperator</a:t>
            </a:r>
            <a:r>
              <a:rPr lang="en-IN" b="1" dirty="0"/>
              <a:t>&lt;T&gt;</a:t>
            </a:r>
          </a:p>
          <a:p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java.util.function.UnaryOperator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public class UnaryOperatorExample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</a:t>
            </a:r>
            <a:r>
              <a:rPr lang="en-IN" dirty="0" err="1"/>
              <a:t>UnaryOperator</a:t>
            </a:r>
            <a:r>
              <a:rPr lang="en-IN" dirty="0"/>
              <a:t>&lt;Integer&gt; square = x -&gt; x * x;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square.apply</a:t>
            </a:r>
            <a:r>
              <a:rPr lang="en-IN" dirty="0"/>
              <a:t>(5)); // 25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5FB1C-1F7C-2700-1B13-96D2F0072DDD}"/>
              </a:ext>
            </a:extLst>
          </p:cNvPr>
          <p:cNvSpPr txBox="1"/>
          <p:nvPr/>
        </p:nvSpPr>
        <p:spPr>
          <a:xfrm>
            <a:off x="486694" y="3720375"/>
            <a:ext cx="865730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BinaryOperator</a:t>
            </a:r>
            <a:r>
              <a:rPr lang="en-IN" b="1" dirty="0"/>
              <a:t>&lt;T&gt;</a:t>
            </a:r>
          </a:p>
          <a:p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java.util.function.BinaryOperator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BinaryOperatorExample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</a:t>
            </a:r>
            <a:r>
              <a:rPr lang="en-IN" dirty="0" err="1"/>
              <a:t>BinaryOperator</a:t>
            </a:r>
            <a:r>
              <a:rPr lang="en-IN" dirty="0"/>
              <a:t>&lt;Integer&gt; multiply = (a, b) -&gt; a * b;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multiply.apply</a:t>
            </a:r>
            <a:r>
              <a:rPr lang="en-IN" dirty="0"/>
              <a:t>(4, 5)); // 20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88867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780" y="1336319"/>
            <a:ext cx="6347714" cy="3880773"/>
          </a:xfrm>
        </p:spPr>
        <p:txBody>
          <a:bodyPr/>
          <a:lstStyle/>
          <a:p>
            <a:endParaRPr dirty="0"/>
          </a:p>
          <a:p>
            <a:r>
              <a:rPr sz="2000" dirty="0">
                <a:solidFill>
                  <a:srgbClr val="000000"/>
                </a:solidFill>
                <a:latin typeface="Times New Roman"/>
              </a:rPr>
              <a:t>Short-hand syntax for Lambda expressions.</a:t>
            </a:r>
            <a:br>
              <a:rPr dirty="0"/>
            </a:b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Types: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1. Static method reference — Class::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staticMethod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2. Instance method reference — obj::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instanceMethod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3. Constructor reference — Class::new</a:t>
            </a:r>
            <a:br>
              <a:rPr dirty="0"/>
            </a:b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Example: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List&lt;String&gt; names =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Arrays.asList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("A", "B", "C");</a:t>
            </a:r>
            <a:br>
              <a:rPr dirty="0"/>
            </a:br>
            <a:r>
              <a:rPr sz="2000" dirty="0" err="1">
                <a:solidFill>
                  <a:srgbClr val="000000"/>
                </a:solidFill>
                <a:latin typeface="Times New Roman"/>
              </a:rPr>
              <a:t>names.forEach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System.out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::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println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AAB7F1-5F91-03FA-2F9B-B14A670271B0}"/>
              </a:ext>
            </a:extLst>
          </p:cNvPr>
          <p:cNvSpPr txBox="1"/>
          <p:nvPr/>
        </p:nvSpPr>
        <p:spPr>
          <a:xfrm>
            <a:off x="78658" y="61305"/>
            <a:ext cx="861305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1️⃣ Reference to a Static Method</a:t>
            </a:r>
          </a:p>
          <a:p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java.util.Arrays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java.util.List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StaticMethodRefExample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List&lt;Integer&gt; numbers = </a:t>
            </a:r>
            <a:r>
              <a:rPr lang="en-IN" dirty="0" err="1"/>
              <a:t>Arrays.asList</a:t>
            </a:r>
            <a:r>
              <a:rPr lang="en-IN" dirty="0"/>
              <a:t>(1, 2, 3, 4, 5);</a:t>
            </a:r>
          </a:p>
          <a:p>
            <a:endParaRPr lang="en-IN" dirty="0"/>
          </a:p>
          <a:p>
            <a:r>
              <a:rPr lang="en-IN" dirty="0"/>
              <a:t>        // Lambda expression</a:t>
            </a:r>
          </a:p>
          <a:p>
            <a:r>
              <a:rPr lang="en-IN" dirty="0"/>
              <a:t>        </a:t>
            </a:r>
            <a:r>
              <a:rPr lang="en-IN" dirty="0" err="1"/>
              <a:t>numbers.forEach</a:t>
            </a:r>
            <a:r>
              <a:rPr lang="en-IN" dirty="0"/>
              <a:t>(n -&gt; </a:t>
            </a:r>
            <a:r>
              <a:rPr lang="en-IN" dirty="0" err="1"/>
              <a:t>StaticMethodRefExample.printSquare</a:t>
            </a:r>
            <a:r>
              <a:rPr lang="en-IN" dirty="0"/>
              <a:t>(n));</a:t>
            </a:r>
          </a:p>
          <a:p>
            <a:endParaRPr lang="en-IN" dirty="0"/>
          </a:p>
          <a:p>
            <a:r>
              <a:rPr lang="en-IN" dirty="0"/>
              <a:t>        // Method reference</a:t>
            </a:r>
          </a:p>
          <a:p>
            <a:r>
              <a:rPr lang="en-IN" dirty="0"/>
              <a:t>        </a:t>
            </a:r>
            <a:r>
              <a:rPr lang="en-IN" dirty="0" err="1"/>
              <a:t>numbers.forEach</a:t>
            </a:r>
            <a:r>
              <a:rPr lang="en-IN" dirty="0"/>
              <a:t>(</a:t>
            </a:r>
            <a:r>
              <a:rPr lang="en-IN" dirty="0" err="1"/>
              <a:t>StaticMethodRefExample</a:t>
            </a:r>
            <a:r>
              <a:rPr lang="en-IN" dirty="0"/>
              <a:t>::</a:t>
            </a:r>
            <a:r>
              <a:rPr lang="en-IN" dirty="0" err="1"/>
              <a:t>printSquare</a:t>
            </a:r>
            <a:r>
              <a:rPr lang="en-IN" dirty="0"/>
              <a:t>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public static void </a:t>
            </a:r>
            <a:r>
              <a:rPr lang="en-IN" dirty="0" err="1"/>
              <a:t>printSquare</a:t>
            </a:r>
            <a:r>
              <a:rPr lang="en-IN" dirty="0"/>
              <a:t>(int number)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(number * number);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99283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35A00E-E816-27BD-27F6-0EA20DD1B14A}"/>
              </a:ext>
            </a:extLst>
          </p:cNvPr>
          <p:cNvSpPr txBox="1"/>
          <p:nvPr/>
        </p:nvSpPr>
        <p:spPr>
          <a:xfrm>
            <a:off x="-1" y="61305"/>
            <a:ext cx="9016181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2️⃣ Reference to an Instance Method of a Particular Object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java.util.function.Consumer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InstanceMethodRefExample</a:t>
            </a:r>
            <a:r>
              <a:rPr lang="en-IN" dirty="0"/>
              <a:t> {</a:t>
            </a:r>
          </a:p>
          <a:p>
            <a:r>
              <a:rPr lang="en-IN" dirty="0"/>
              <a:t>    public void </a:t>
            </a:r>
            <a:r>
              <a:rPr lang="en-IN" dirty="0" err="1"/>
              <a:t>printMessage</a:t>
            </a:r>
            <a:r>
              <a:rPr lang="en-IN" dirty="0"/>
              <a:t>(String </a:t>
            </a:r>
            <a:r>
              <a:rPr lang="en-IN" dirty="0" err="1"/>
              <a:t>msg</a:t>
            </a:r>
            <a:r>
              <a:rPr lang="en-IN" dirty="0"/>
              <a:t>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msg</a:t>
            </a:r>
            <a:r>
              <a:rPr lang="en-IN" dirty="0"/>
              <a:t>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</a:t>
            </a:r>
            <a:r>
              <a:rPr lang="en-IN" dirty="0" err="1"/>
              <a:t>InstanceMethodRefExample</a:t>
            </a:r>
            <a:r>
              <a:rPr lang="en-IN" dirty="0"/>
              <a:t> </a:t>
            </a:r>
            <a:r>
              <a:rPr lang="en-IN" dirty="0" err="1"/>
              <a:t>obj</a:t>
            </a:r>
            <a:r>
              <a:rPr lang="en-IN" dirty="0"/>
              <a:t> = new </a:t>
            </a:r>
            <a:r>
              <a:rPr lang="en-IN" dirty="0" err="1"/>
              <a:t>InstanceMethodRefExample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        // Lambda expression</a:t>
            </a:r>
          </a:p>
          <a:p>
            <a:r>
              <a:rPr lang="en-IN" dirty="0"/>
              <a:t>        Consumer&lt;String&gt; lambda = s -&gt; </a:t>
            </a:r>
            <a:r>
              <a:rPr lang="en-IN" dirty="0" err="1"/>
              <a:t>obj.printMessage</a:t>
            </a:r>
            <a:r>
              <a:rPr lang="en-IN" dirty="0"/>
              <a:t>(s);</a:t>
            </a:r>
          </a:p>
          <a:p>
            <a:endParaRPr lang="en-IN" dirty="0"/>
          </a:p>
          <a:p>
            <a:r>
              <a:rPr lang="en-IN" dirty="0"/>
              <a:t>        // Method reference</a:t>
            </a:r>
          </a:p>
          <a:p>
            <a:r>
              <a:rPr lang="en-IN" dirty="0"/>
              <a:t>        Consumer&lt;String&gt; reference = </a:t>
            </a:r>
            <a:r>
              <a:rPr lang="en-IN" dirty="0" err="1"/>
              <a:t>obj</a:t>
            </a:r>
            <a:r>
              <a:rPr lang="en-IN" dirty="0"/>
              <a:t>::</a:t>
            </a:r>
            <a:r>
              <a:rPr lang="en-IN" dirty="0" err="1"/>
              <a:t>printMessage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lambda.accept</a:t>
            </a:r>
            <a:r>
              <a:rPr lang="en-IN" dirty="0"/>
              <a:t>("Hello Lambda");</a:t>
            </a:r>
          </a:p>
          <a:p>
            <a:r>
              <a:rPr lang="en-IN" dirty="0"/>
              <a:t>        </a:t>
            </a:r>
            <a:r>
              <a:rPr lang="en-IN" dirty="0" err="1"/>
              <a:t>reference.accept</a:t>
            </a:r>
            <a:r>
              <a:rPr lang="en-IN" dirty="0"/>
              <a:t>("Hello Method Reference");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949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0F2288-C2CA-FC67-220E-477D7AD4DEBC}"/>
              </a:ext>
            </a:extLst>
          </p:cNvPr>
          <p:cNvSpPr txBox="1"/>
          <p:nvPr/>
        </p:nvSpPr>
        <p:spPr>
          <a:xfrm>
            <a:off x="0" y="753802"/>
            <a:ext cx="91440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3️⃣ Reference to an Instance Method of an Arbitrary Object of a Particular Type</a:t>
            </a:r>
          </a:p>
          <a:p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java.util.Arrays</a:t>
            </a:r>
            <a:r>
              <a:rPr lang="en-IN" dirty="0"/>
              <a:t>;</a:t>
            </a:r>
          </a:p>
          <a:p>
            <a:r>
              <a:rPr lang="en-IN" dirty="0"/>
              <a:t>import </a:t>
            </a:r>
            <a:r>
              <a:rPr lang="en-IN" dirty="0" err="1"/>
              <a:t>java.util.List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ArbitraryObjectMethodRef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List&lt;String&gt; names = </a:t>
            </a:r>
            <a:r>
              <a:rPr lang="en-IN" dirty="0" err="1"/>
              <a:t>Arrays.asList</a:t>
            </a:r>
            <a:r>
              <a:rPr lang="en-IN" dirty="0"/>
              <a:t>("</a:t>
            </a:r>
            <a:r>
              <a:rPr lang="en-IN" dirty="0" err="1"/>
              <a:t>ravi</a:t>
            </a:r>
            <a:r>
              <a:rPr lang="en-IN" dirty="0"/>
              <a:t>", "</a:t>
            </a:r>
            <a:r>
              <a:rPr lang="en-IN" dirty="0" err="1"/>
              <a:t>amit</a:t>
            </a:r>
            <a:r>
              <a:rPr lang="en-IN" dirty="0"/>
              <a:t>", "</a:t>
            </a:r>
            <a:r>
              <a:rPr lang="en-IN" dirty="0" err="1"/>
              <a:t>kiran</a:t>
            </a:r>
            <a:r>
              <a:rPr lang="en-IN" dirty="0"/>
              <a:t>");</a:t>
            </a:r>
          </a:p>
          <a:p>
            <a:endParaRPr lang="en-IN" dirty="0"/>
          </a:p>
          <a:p>
            <a:r>
              <a:rPr lang="en-IN" dirty="0"/>
              <a:t>        // Lambda expression</a:t>
            </a:r>
          </a:p>
          <a:p>
            <a:r>
              <a:rPr lang="en-IN" dirty="0"/>
              <a:t>        </a:t>
            </a:r>
            <a:r>
              <a:rPr lang="en-IN" dirty="0" err="1"/>
              <a:t>names.replaceAll</a:t>
            </a:r>
            <a:r>
              <a:rPr lang="en-IN" dirty="0"/>
              <a:t>(s -&gt; </a:t>
            </a:r>
            <a:r>
              <a:rPr lang="en-IN" dirty="0" err="1"/>
              <a:t>s.toUpperCase</a:t>
            </a:r>
            <a:r>
              <a:rPr lang="en-IN" dirty="0"/>
              <a:t>());</a:t>
            </a:r>
          </a:p>
          <a:p>
            <a:endParaRPr lang="en-IN" dirty="0"/>
          </a:p>
          <a:p>
            <a:r>
              <a:rPr lang="en-IN" dirty="0"/>
              <a:t>        // Method reference</a:t>
            </a:r>
          </a:p>
          <a:p>
            <a:r>
              <a:rPr lang="en-IN" dirty="0"/>
              <a:t>        </a:t>
            </a:r>
            <a:r>
              <a:rPr lang="en-IN" dirty="0" err="1"/>
              <a:t>names.replaceAll</a:t>
            </a:r>
            <a:r>
              <a:rPr lang="en-IN" dirty="0"/>
              <a:t>(String::</a:t>
            </a:r>
            <a:r>
              <a:rPr lang="en-IN" dirty="0" err="1"/>
              <a:t>toUpperCase</a:t>
            </a:r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names.forEach</a:t>
            </a:r>
            <a:r>
              <a:rPr lang="en-IN" dirty="0"/>
              <a:t>(</a:t>
            </a:r>
            <a:r>
              <a:rPr lang="en-IN" dirty="0" err="1"/>
              <a:t>System.out</a:t>
            </a:r>
            <a:r>
              <a:rPr lang="en-IN" dirty="0"/>
              <a:t>::</a:t>
            </a:r>
            <a:r>
              <a:rPr lang="en-IN" dirty="0" err="1"/>
              <a:t>println</a:t>
            </a:r>
            <a:r>
              <a:rPr lang="en-IN" dirty="0"/>
              <a:t>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2664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3978C7-B5BF-76BD-2E5B-53F920EDD064}"/>
              </a:ext>
            </a:extLst>
          </p:cNvPr>
          <p:cNvSpPr txBox="1"/>
          <p:nvPr/>
        </p:nvSpPr>
        <p:spPr>
          <a:xfrm>
            <a:off x="98323" y="-77195"/>
            <a:ext cx="9045677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b="1" dirty="0"/>
              <a:t>4️⃣ Reference to a Constructor</a:t>
            </a:r>
          </a:p>
          <a:p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java.util.function.Function</a:t>
            </a:r>
            <a:r>
              <a:rPr lang="en-IN" dirty="0"/>
              <a:t>;</a:t>
            </a:r>
          </a:p>
          <a:p>
            <a:endParaRPr lang="en-IN" dirty="0"/>
          </a:p>
          <a:p>
            <a:r>
              <a:rPr lang="en-IN" dirty="0"/>
              <a:t>class Employee {</a:t>
            </a:r>
          </a:p>
          <a:p>
            <a:r>
              <a:rPr lang="en-IN" dirty="0"/>
              <a:t>    String name;</a:t>
            </a:r>
          </a:p>
          <a:p>
            <a:r>
              <a:rPr lang="en-IN" dirty="0"/>
              <a:t>    Employee(String name) {</a:t>
            </a:r>
          </a:p>
          <a:p>
            <a:r>
              <a:rPr lang="en-IN" dirty="0"/>
              <a:t>        this.name = name;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("Employee Created: " + name);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ConstructorRefExample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// Lambda expression</a:t>
            </a:r>
          </a:p>
          <a:p>
            <a:r>
              <a:rPr lang="en-IN" dirty="0"/>
              <a:t>        Function&lt;String, Employee&gt; lambda = name -&gt; new Employee(name);</a:t>
            </a:r>
          </a:p>
          <a:p>
            <a:endParaRPr lang="en-IN" dirty="0"/>
          </a:p>
          <a:p>
            <a:r>
              <a:rPr lang="en-IN" dirty="0"/>
              <a:t>        // Method reference</a:t>
            </a:r>
          </a:p>
          <a:p>
            <a:r>
              <a:rPr lang="en-IN" dirty="0"/>
              <a:t>        Function&lt;String, Employee&gt; reference = Employee::new;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lambda.apply</a:t>
            </a:r>
            <a:r>
              <a:rPr lang="en-IN" dirty="0"/>
              <a:t>("Ravi");</a:t>
            </a:r>
          </a:p>
          <a:p>
            <a:r>
              <a:rPr lang="en-IN" dirty="0"/>
              <a:t>        </a:t>
            </a:r>
            <a:r>
              <a:rPr lang="en-IN" dirty="0" err="1"/>
              <a:t>reference.apply</a:t>
            </a:r>
            <a:r>
              <a:rPr lang="en-IN" dirty="0"/>
              <a:t>("Amit");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16255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76748"/>
          </a:xfrm>
        </p:spPr>
        <p:txBody>
          <a:bodyPr/>
          <a:lstStyle/>
          <a:p>
            <a:r>
              <a:t>Stream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786" y="1305184"/>
            <a:ext cx="8584054" cy="3880773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 marL="0" indent="0">
              <a:buNone/>
            </a:pPr>
            <a:r>
              <a:rPr sz="2000" dirty="0">
                <a:solidFill>
                  <a:srgbClr val="000000"/>
                </a:solidFill>
                <a:latin typeface="Times New Roman"/>
              </a:rPr>
              <a:t>U</a:t>
            </a:r>
            <a:r>
              <a:rPr lang="en-IN" sz="2000" dirty="0">
                <a:solidFill>
                  <a:srgbClr val="000000"/>
                </a:solidFill>
                <a:latin typeface="Times New Roman"/>
              </a:rPr>
              <a:t>se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d for functional-style operations on collections.</a:t>
            </a:r>
            <a:br>
              <a:rPr dirty="0"/>
            </a:b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Example: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List&lt;String&gt; names =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Arrays.asList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("Ravi", "Amit", "John");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List&lt;String&gt; filtered =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names.stream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()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    .filter(n -&gt;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n.startsWith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("A"))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    .collect(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Collectors.toList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());</a:t>
            </a:r>
            <a:br>
              <a:rPr dirty="0"/>
            </a:br>
            <a:r>
              <a:rPr sz="2000" dirty="0" err="1">
                <a:solidFill>
                  <a:srgbClr val="000000"/>
                </a:solidFill>
                <a:latin typeface="Times New Roman"/>
              </a:rPr>
              <a:t>System.out.println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(filtered);</a:t>
            </a:r>
            <a:br>
              <a:rPr dirty="0"/>
            </a:b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Operations: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- Intermediate: filter(), map(), sorted()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- Terminal: collect(),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forEach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(), reduce()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D19CBC-ACEE-3E40-1044-F7079C316A3F}"/>
              </a:ext>
            </a:extLst>
          </p:cNvPr>
          <p:cNvSpPr txBox="1"/>
          <p:nvPr/>
        </p:nvSpPr>
        <p:spPr>
          <a:xfrm>
            <a:off x="285750" y="1050072"/>
            <a:ext cx="857250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92D050"/>
                </a:solidFill>
              </a:rPr>
              <a:t>Stream API 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b="1" dirty="0"/>
              <a:t>What is Stream API?</a:t>
            </a:r>
          </a:p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Stream API</a:t>
            </a:r>
            <a:r>
              <a:rPr lang="en-US" dirty="0"/>
              <a:t> in Java 8 is used to process collections of objects in a</a:t>
            </a:r>
          </a:p>
          <a:p>
            <a:pPr>
              <a:buNone/>
            </a:pPr>
            <a:r>
              <a:rPr lang="en-US" b="1" dirty="0"/>
              <a:t>functional style</a:t>
            </a:r>
            <a:r>
              <a:rPr lang="en-US" dirty="0"/>
              <a:t>. It allows operations like </a:t>
            </a:r>
            <a:r>
              <a:rPr lang="en-US" b="1" dirty="0"/>
              <a:t>filtering, mapping, and reducing</a:t>
            </a:r>
            <a:r>
              <a:rPr lang="en-US" dirty="0"/>
              <a:t> data.</a:t>
            </a:r>
          </a:p>
          <a:p>
            <a:pPr>
              <a:buNone/>
            </a:pPr>
            <a:r>
              <a:rPr lang="en-US" b="1" dirty="0"/>
              <a:t>Key points: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Stream does </a:t>
            </a:r>
            <a:r>
              <a:rPr lang="en-US" b="1" dirty="0"/>
              <a:t>not store data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Stream is </a:t>
            </a:r>
            <a:r>
              <a:rPr lang="en-US" b="1" dirty="0"/>
              <a:t>not a data structure</a:t>
            </a:r>
            <a:r>
              <a:rPr lang="en-US" dirty="0"/>
              <a:t>; it operates on a </a:t>
            </a:r>
            <a:r>
              <a:rPr lang="en-US" b="1" dirty="0"/>
              <a:t>source</a:t>
            </a:r>
            <a:r>
              <a:rPr lang="en-US" dirty="0"/>
              <a:t> (like </a:t>
            </a:r>
            <a:r>
              <a:rPr lang="en-US" dirty="0">
                <a:latin typeface="Courier New" panose="02070309020205020404" pitchFamily="49" charset="0"/>
              </a:rPr>
              <a:t>List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Set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</a:rPr>
              <a:t>Map</a:t>
            </a:r>
            <a:r>
              <a:rPr lang="en-US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Stream operations are </a:t>
            </a:r>
            <a:r>
              <a:rPr lang="en-US" b="1" dirty="0"/>
              <a:t>lazy</a:t>
            </a:r>
            <a:r>
              <a:rPr lang="en-US" dirty="0"/>
              <a:t> – they are executed only when terminal operations are called.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Stream supports </a:t>
            </a:r>
            <a:r>
              <a:rPr lang="en-US" b="1" dirty="0"/>
              <a:t>parallel operations</a:t>
            </a:r>
            <a:r>
              <a:rPr lang="en-US" dirty="0"/>
              <a:t> for faster execution.</a:t>
            </a:r>
          </a:p>
        </p:txBody>
      </p:sp>
    </p:spTree>
    <p:extLst>
      <p:ext uri="{BB962C8B-B14F-4D97-AF65-F5344CB8AC3E}">
        <p14:creationId xmlns:p14="http://schemas.microsoft.com/office/powerpoint/2010/main" val="1664697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E73622-E8C5-362C-06A2-D25618A9047D}"/>
              </a:ext>
            </a:extLst>
          </p:cNvPr>
          <p:cNvSpPr txBox="1"/>
          <p:nvPr/>
        </p:nvSpPr>
        <p:spPr>
          <a:xfrm>
            <a:off x="60960" y="1170653"/>
            <a:ext cx="908304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Types of Stream Operations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There are </a:t>
            </a:r>
            <a:r>
              <a:rPr lang="en-US" b="1" dirty="0"/>
              <a:t>two types</a:t>
            </a:r>
            <a:r>
              <a:rPr lang="en-US" dirty="0"/>
              <a:t>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Intermediate operations</a:t>
            </a:r>
            <a:r>
              <a:rPr lang="en-US" dirty="0"/>
              <a:t> (return another stream):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filter()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map()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sorted()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distinct()</a:t>
            </a:r>
          </a:p>
          <a:p>
            <a:pPr lvl="1"/>
            <a:endParaRPr lang="en-US" dirty="0"/>
          </a:p>
          <a:p>
            <a:pPr>
              <a:buFont typeface="+mj-lt"/>
              <a:buAutoNum type="arabicPeriod"/>
            </a:pPr>
            <a:r>
              <a:rPr lang="en-US" b="1" dirty="0"/>
              <a:t>Terminal operations</a:t>
            </a:r>
            <a:r>
              <a:rPr lang="en-US" dirty="0"/>
              <a:t> (return a result or side-effect):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dirty="0" err="1">
                <a:latin typeface="Courier New" panose="02070309020205020404" pitchFamily="49" charset="0"/>
              </a:rPr>
              <a:t>forEach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collect()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reduce()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>
                <a:latin typeface="Courier New" panose="02070309020205020404" pitchFamily="49" charset="0"/>
              </a:rPr>
              <a:t>count()</a:t>
            </a:r>
            <a:endParaRPr lang="en-US" dirty="0"/>
          </a:p>
          <a:p>
            <a:pPr marL="742950" lvl="1" indent="-285750">
              <a:buFont typeface="+mj-lt"/>
              <a:buAutoNum type="arabicPeriod"/>
            </a:pPr>
            <a:r>
              <a:rPr lang="en-US" dirty="0" err="1">
                <a:latin typeface="Courier New" panose="02070309020205020404" pitchFamily="49" charset="0"/>
              </a:rPr>
              <a:t>anyMatch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allMatch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r>
              <a:rPr lang="en-US" dirty="0"/>
              <a:t>, </a:t>
            </a:r>
            <a:r>
              <a:rPr lang="en-US" dirty="0" err="1">
                <a:latin typeface="Courier New" panose="02070309020205020404" pitchFamily="49" charset="0"/>
              </a:rPr>
              <a:t>noneMatch</a:t>
            </a:r>
            <a:r>
              <a:rPr lang="en-US" dirty="0">
                <a:latin typeface="Courier New" panose="02070309020205020404" pitchFamily="49" charset="0"/>
              </a:rPr>
              <a:t>()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8934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E1E2DD-4180-3622-3A07-11694292B3FC}"/>
              </a:ext>
            </a:extLst>
          </p:cNvPr>
          <p:cNvSpPr txBox="1"/>
          <p:nvPr/>
        </p:nvSpPr>
        <p:spPr>
          <a:xfrm>
            <a:off x="99060" y="-75843"/>
            <a:ext cx="912876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How many ways to </a:t>
            </a:r>
            <a:r>
              <a:rPr lang="en-IN" b="1" dirty="0" err="1"/>
              <a:t>creare</a:t>
            </a:r>
            <a:r>
              <a:rPr lang="en-IN" b="1" dirty="0"/>
              <a:t> stream</a:t>
            </a:r>
          </a:p>
          <a:p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</a:t>
            </a:r>
          </a:p>
          <a:p>
            <a:r>
              <a:rPr lang="en-IN" dirty="0"/>
              <a:t>import </a:t>
            </a:r>
            <a:r>
              <a:rPr lang="en-IN" dirty="0" err="1"/>
              <a:t>java.util.stream</a:t>
            </a:r>
            <a:r>
              <a:rPr lang="en-IN" dirty="0"/>
              <a:t>.*;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StreamExample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// From Collection</a:t>
            </a:r>
          </a:p>
          <a:p>
            <a:r>
              <a:rPr lang="en-IN" dirty="0"/>
              <a:t>        List&lt;String&gt; list = </a:t>
            </a:r>
            <a:r>
              <a:rPr lang="en-IN" dirty="0" err="1"/>
              <a:t>Arrays.asList</a:t>
            </a:r>
            <a:r>
              <a:rPr lang="en-IN" dirty="0"/>
              <a:t>("apple", "banana", "orange");</a:t>
            </a:r>
          </a:p>
          <a:p>
            <a:r>
              <a:rPr lang="en-IN" dirty="0"/>
              <a:t>        Stream&lt;String&gt; stream1 = </a:t>
            </a:r>
            <a:r>
              <a:rPr lang="en-IN" dirty="0" err="1"/>
              <a:t>list.stream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/>
              <a:t>        // From Array</a:t>
            </a:r>
          </a:p>
          <a:p>
            <a:r>
              <a:rPr lang="en-IN" dirty="0"/>
              <a:t>        Stream&lt;Integer&gt; stream2 = </a:t>
            </a:r>
            <a:r>
              <a:rPr lang="en-IN" dirty="0" err="1"/>
              <a:t>Arrays.stream</a:t>
            </a:r>
            <a:r>
              <a:rPr lang="en-IN" dirty="0"/>
              <a:t>(new Integer[]{1, 2, 3, 4, 5});</a:t>
            </a:r>
          </a:p>
          <a:p>
            <a:endParaRPr lang="en-IN" dirty="0"/>
          </a:p>
          <a:p>
            <a:r>
              <a:rPr lang="en-IN" dirty="0"/>
              <a:t>        // From values</a:t>
            </a:r>
          </a:p>
          <a:p>
            <a:r>
              <a:rPr lang="en-IN" dirty="0"/>
              <a:t>        Stream&lt;String&gt; stream3 = </a:t>
            </a:r>
            <a:r>
              <a:rPr lang="en-IN" dirty="0" err="1"/>
              <a:t>Stream.of</a:t>
            </a:r>
            <a:r>
              <a:rPr lang="en-IN" dirty="0"/>
              <a:t>("a", "b", "c");</a:t>
            </a:r>
          </a:p>
          <a:p>
            <a:endParaRPr lang="en-IN" dirty="0"/>
          </a:p>
          <a:p>
            <a:r>
              <a:rPr lang="en-IN" dirty="0"/>
              <a:t>        // Infinite Stream</a:t>
            </a:r>
          </a:p>
          <a:p>
            <a:r>
              <a:rPr lang="en-IN" dirty="0"/>
              <a:t>        Stream&lt;Integer&gt; infinite = </a:t>
            </a:r>
            <a:r>
              <a:rPr lang="en-IN" dirty="0" err="1"/>
              <a:t>Stream.iterate</a:t>
            </a:r>
            <a:r>
              <a:rPr lang="en-IN" dirty="0"/>
              <a:t>(0, n -&gt; n + 2);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11696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638FCE-50CC-E56A-D65F-3DF1DAE4F1B9}"/>
              </a:ext>
            </a:extLst>
          </p:cNvPr>
          <p:cNvSpPr txBox="1"/>
          <p:nvPr/>
        </p:nvSpPr>
        <p:spPr>
          <a:xfrm>
            <a:off x="196215" y="294769"/>
            <a:ext cx="89477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Common Stream Operations Examples</a:t>
            </a:r>
          </a:p>
          <a:p>
            <a:endParaRPr lang="en-IN" dirty="0"/>
          </a:p>
          <a:p>
            <a:r>
              <a:rPr lang="en-IN" dirty="0"/>
              <a:t>List&lt;Integer&gt; numbers = </a:t>
            </a:r>
            <a:r>
              <a:rPr lang="en-IN" dirty="0" err="1"/>
              <a:t>Arrays.asList</a:t>
            </a:r>
            <a:r>
              <a:rPr lang="en-IN" dirty="0"/>
              <a:t>(1, 2, 3, 4, 5, 6);</a:t>
            </a:r>
          </a:p>
          <a:p>
            <a:r>
              <a:rPr lang="en-IN" dirty="0"/>
              <a:t>List&lt;Integer&gt; </a:t>
            </a:r>
            <a:r>
              <a:rPr lang="en-IN" dirty="0" err="1"/>
              <a:t>evenNumbers</a:t>
            </a:r>
            <a:r>
              <a:rPr lang="en-IN" dirty="0"/>
              <a:t> = </a:t>
            </a:r>
            <a:r>
              <a:rPr lang="en-IN" dirty="0" err="1"/>
              <a:t>numbers.stream</a:t>
            </a:r>
            <a:r>
              <a:rPr lang="en-IN" dirty="0"/>
              <a:t>()</a:t>
            </a:r>
          </a:p>
          <a:p>
            <a:r>
              <a:rPr lang="en-IN" dirty="0"/>
              <a:t>                                   .filter(n -&gt; n % 2 == 0)</a:t>
            </a:r>
          </a:p>
          <a:p>
            <a:r>
              <a:rPr lang="en-IN" dirty="0"/>
              <a:t>                                   .collect(</a:t>
            </a:r>
            <a:r>
              <a:rPr lang="en-IN" dirty="0" err="1"/>
              <a:t>Collectors.toList</a:t>
            </a:r>
            <a:r>
              <a:rPr lang="en-IN" dirty="0"/>
              <a:t>());</a:t>
            </a:r>
          </a:p>
          <a:p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evenNumbers</a:t>
            </a:r>
            <a:r>
              <a:rPr lang="en-IN" dirty="0"/>
              <a:t>); // [2, 4, 6]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183432-2BAC-F38B-0768-3D92C15882F7}"/>
              </a:ext>
            </a:extLst>
          </p:cNvPr>
          <p:cNvSpPr txBox="1"/>
          <p:nvPr/>
        </p:nvSpPr>
        <p:spPr>
          <a:xfrm>
            <a:off x="280034" y="2752428"/>
            <a:ext cx="886396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Map</a:t>
            </a:r>
          </a:p>
          <a:p>
            <a:endParaRPr lang="en-IN" b="1" dirty="0"/>
          </a:p>
          <a:p>
            <a:r>
              <a:rPr lang="en-IN" dirty="0"/>
              <a:t>List&lt;String&gt; words = </a:t>
            </a:r>
            <a:r>
              <a:rPr lang="en-IN" dirty="0" err="1"/>
              <a:t>Arrays.asList</a:t>
            </a:r>
            <a:r>
              <a:rPr lang="en-IN" dirty="0"/>
              <a:t>("apple", "banana", "orange");</a:t>
            </a:r>
          </a:p>
          <a:p>
            <a:r>
              <a:rPr lang="en-IN" dirty="0"/>
              <a:t>List&lt;Integer&gt; lengths = </a:t>
            </a:r>
            <a:r>
              <a:rPr lang="en-IN" dirty="0" err="1"/>
              <a:t>words.stream</a:t>
            </a:r>
            <a:r>
              <a:rPr lang="en-IN" dirty="0"/>
              <a:t>()</a:t>
            </a:r>
          </a:p>
          <a:p>
            <a:r>
              <a:rPr lang="en-IN" dirty="0"/>
              <a:t>                             .map(String::length)</a:t>
            </a:r>
          </a:p>
          <a:p>
            <a:r>
              <a:rPr lang="en-IN" dirty="0"/>
              <a:t>                             .collect(</a:t>
            </a:r>
            <a:r>
              <a:rPr lang="en-IN" dirty="0" err="1"/>
              <a:t>Collectors.toList</a:t>
            </a:r>
            <a:r>
              <a:rPr lang="en-IN" dirty="0"/>
              <a:t>());</a:t>
            </a:r>
          </a:p>
          <a:p>
            <a:r>
              <a:rPr lang="en-IN" dirty="0" err="1"/>
              <a:t>System.out.println</a:t>
            </a:r>
            <a:r>
              <a:rPr lang="en-IN" dirty="0"/>
              <a:t>(lengths); // [5, 6, 6]</a:t>
            </a:r>
          </a:p>
        </p:txBody>
      </p:sp>
    </p:spTree>
    <p:extLst>
      <p:ext uri="{BB962C8B-B14F-4D97-AF65-F5344CB8AC3E}">
        <p14:creationId xmlns:p14="http://schemas.microsoft.com/office/powerpoint/2010/main" val="1566736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839C59-C85F-503C-29A9-BFCD2A1034B4}"/>
              </a:ext>
            </a:extLst>
          </p:cNvPr>
          <p:cNvSpPr txBox="1"/>
          <p:nvPr/>
        </p:nvSpPr>
        <p:spPr>
          <a:xfrm>
            <a:off x="135254" y="297448"/>
            <a:ext cx="900874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Sorted</a:t>
            </a:r>
          </a:p>
          <a:p>
            <a:endParaRPr lang="en-IN" dirty="0"/>
          </a:p>
          <a:p>
            <a:r>
              <a:rPr lang="en-IN" dirty="0"/>
              <a:t>List&lt;String&gt; fruits = </a:t>
            </a:r>
            <a:r>
              <a:rPr lang="en-IN" dirty="0" err="1"/>
              <a:t>Arrays.asList</a:t>
            </a:r>
            <a:r>
              <a:rPr lang="en-IN" dirty="0"/>
              <a:t>("banana", "apple", "orange");</a:t>
            </a:r>
          </a:p>
          <a:p>
            <a:r>
              <a:rPr lang="en-IN" dirty="0"/>
              <a:t>List&lt;String&gt; </a:t>
            </a:r>
            <a:r>
              <a:rPr lang="en-IN" dirty="0" err="1"/>
              <a:t>sortedFruits</a:t>
            </a:r>
            <a:r>
              <a:rPr lang="en-IN" dirty="0"/>
              <a:t> = </a:t>
            </a:r>
            <a:r>
              <a:rPr lang="en-IN" dirty="0" err="1"/>
              <a:t>fruits.stream</a:t>
            </a:r>
            <a:r>
              <a:rPr lang="en-IN" dirty="0"/>
              <a:t>()</a:t>
            </a:r>
          </a:p>
          <a:p>
            <a:r>
              <a:rPr lang="en-IN" dirty="0"/>
              <a:t>                                  .sorted()</a:t>
            </a:r>
          </a:p>
          <a:p>
            <a:r>
              <a:rPr lang="en-IN" dirty="0"/>
              <a:t>                                  .collect(</a:t>
            </a:r>
            <a:r>
              <a:rPr lang="en-IN" dirty="0" err="1"/>
              <a:t>Collectors.toList</a:t>
            </a:r>
            <a:r>
              <a:rPr lang="en-IN" dirty="0"/>
              <a:t>());</a:t>
            </a:r>
          </a:p>
          <a:p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sortedFruits</a:t>
            </a:r>
            <a:r>
              <a:rPr lang="en-IN" dirty="0"/>
              <a:t>); // [apple, banana, orange]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8AF639-688F-364F-F711-8465D4E387FD}"/>
              </a:ext>
            </a:extLst>
          </p:cNvPr>
          <p:cNvSpPr txBox="1"/>
          <p:nvPr/>
        </p:nvSpPr>
        <p:spPr>
          <a:xfrm>
            <a:off x="135254" y="2694146"/>
            <a:ext cx="90087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Reduce</a:t>
            </a:r>
          </a:p>
          <a:p>
            <a:endParaRPr lang="en-IN" dirty="0"/>
          </a:p>
          <a:p>
            <a:r>
              <a:rPr lang="en-IN" dirty="0"/>
              <a:t>List&lt;Integer&gt; numbers = </a:t>
            </a:r>
            <a:r>
              <a:rPr lang="en-IN" dirty="0" err="1"/>
              <a:t>Arrays.asList</a:t>
            </a:r>
            <a:r>
              <a:rPr lang="en-IN" dirty="0"/>
              <a:t>(1, 2, 3, 4, 5);</a:t>
            </a:r>
          </a:p>
          <a:p>
            <a:r>
              <a:rPr lang="en-IN" dirty="0"/>
              <a:t>int sum = </a:t>
            </a:r>
            <a:r>
              <a:rPr lang="en-IN" dirty="0" err="1"/>
              <a:t>numbers.stream</a:t>
            </a:r>
            <a:r>
              <a:rPr lang="en-IN" dirty="0"/>
              <a:t>()</a:t>
            </a:r>
          </a:p>
          <a:p>
            <a:r>
              <a:rPr lang="en-IN" dirty="0"/>
              <a:t>                 .reduce(0, (a, b) -&gt; a + b);</a:t>
            </a:r>
          </a:p>
          <a:p>
            <a:r>
              <a:rPr lang="en-IN" dirty="0" err="1"/>
              <a:t>System.out.println</a:t>
            </a:r>
            <a:r>
              <a:rPr lang="en-IN" dirty="0"/>
              <a:t>(sum); // 15</a:t>
            </a:r>
          </a:p>
        </p:txBody>
      </p:sp>
    </p:spTree>
    <p:extLst>
      <p:ext uri="{BB962C8B-B14F-4D97-AF65-F5344CB8AC3E}">
        <p14:creationId xmlns:p14="http://schemas.microsoft.com/office/powerpoint/2010/main" val="33678372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ED1D6B-10EC-FE68-297A-55FB3224283F}"/>
              </a:ext>
            </a:extLst>
          </p:cNvPr>
          <p:cNvSpPr txBox="1"/>
          <p:nvPr/>
        </p:nvSpPr>
        <p:spPr>
          <a:xfrm>
            <a:off x="318134" y="478066"/>
            <a:ext cx="87344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forEach</a:t>
            </a:r>
            <a:endParaRPr lang="en-IN" b="1" dirty="0"/>
          </a:p>
          <a:p>
            <a:endParaRPr lang="en-IN" dirty="0"/>
          </a:p>
          <a:p>
            <a:r>
              <a:rPr lang="en-IN" dirty="0"/>
              <a:t>List&lt;String&gt; fruits = </a:t>
            </a:r>
            <a:r>
              <a:rPr lang="en-IN" dirty="0" err="1"/>
              <a:t>Arrays.asList</a:t>
            </a:r>
            <a:r>
              <a:rPr lang="en-IN" dirty="0"/>
              <a:t>("apple", "banana", "orange");</a:t>
            </a:r>
          </a:p>
          <a:p>
            <a:r>
              <a:rPr lang="en-IN" dirty="0" err="1"/>
              <a:t>fruits.stream</a:t>
            </a:r>
            <a:r>
              <a:rPr lang="en-IN" dirty="0"/>
              <a:t>().</a:t>
            </a:r>
            <a:r>
              <a:rPr lang="en-IN" dirty="0" err="1"/>
              <a:t>forEach</a:t>
            </a:r>
            <a:r>
              <a:rPr lang="en-IN" dirty="0"/>
              <a:t>(</a:t>
            </a:r>
            <a:r>
              <a:rPr lang="en-IN" dirty="0" err="1"/>
              <a:t>System.out</a:t>
            </a:r>
            <a:r>
              <a:rPr lang="en-IN" dirty="0"/>
              <a:t>::</a:t>
            </a:r>
            <a:r>
              <a:rPr lang="en-IN" dirty="0" err="1"/>
              <a:t>println</a:t>
            </a:r>
            <a:r>
              <a:rPr lang="en-IN" dirty="0"/>
              <a:t>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BAB24D-8864-5FF9-E993-F0FA869FA3CC}"/>
              </a:ext>
            </a:extLst>
          </p:cNvPr>
          <p:cNvSpPr txBox="1"/>
          <p:nvPr/>
        </p:nvSpPr>
        <p:spPr>
          <a:xfrm>
            <a:off x="175260" y="2417148"/>
            <a:ext cx="89687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Collect</a:t>
            </a:r>
          </a:p>
          <a:p>
            <a:endParaRPr lang="en-IN" dirty="0"/>
          </a:p>
          <a:p>
            <a:r>
              <a:rPr lang="en-IN" dirty="0"/>
              <a:t>List&lt;String&gt; fruits = </a:t>
            </a:r>
            <a:r>
              <a:rPr lang="en-IN" dirty="0" err="1"/>
              <a:t>Arrays.asList</a:t>
            </a:r>
            <a:r>
              <a:rPr lang="en-IN" dirty="0"/>
              <a:t>("apple", "banana", "orange");</a:t>
            </a:r>
          </a:p>
          <a:p>
            <a:r>
              <a:rPr lang="en-IN" dirty="0"/>
              <a:t>Set&lt;String&gt; </a:t>
            </a:r>
            <a:r>
              <a:rPr lang="en-IN" dirty="0" err="1"/>
              <a:t>fruitSet</a:t>
            </a:r>
            <a:r>
              <a:rPr lang="en-IN" dirty="0"/>
              <a:t> = </a:t>
            </a:r>
            <a:r>
              <a:rPr lang="en-IN" dirty="0" err="1"/>
              <a:t>fruits.stream</a:t>
            </a:r>
            <a:r>
              <a:rPr lang="en-IN" dirty="0"/>
              <a:t>()</a:t>
            </a:r>
          </a:p>
          <a:p>
            <a:r>
              <a:rPr lang="en-IN" dirty="0"/>
              <a:t>                             .collect(</a:t>
            </a:r>
            <a:r>
              <a:rPr lang="en-IN" dirty="0" err="1"/>
              <a:t>Collectors.toSet</a:t>
            </a:r>
            <a:r>
              <a:rPr lang="en-IN" dirty="0"/>
              <a:t>());</a:t>
            </a:r>
          </a:p>
          <a:p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fruitSet</a:t>
            </a:r>
            <a:r>
              <a:rPr lang="en-IN" dirty="0"/>
              <a:t>); // [apple, banana, orange]</a:t>
            </a:r>
          </a:p>
        </p:txBody>
      </p:sp>
    </p:spTree>
    <p:extLst>
      <p:ext uri="{BB962C8B-B14F-4D97-AF65-F5344CB8AC3E}">
        <p14:creationId xmlns:p14="http://schemas.microsoft.com/office/powerpoint/2010/main" val="2772981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9843B7-4448-FA2E-CA46-05372CF7142E}"/>
              </a:ext>
            </a:extLst>
          </p:cNvPr>
          <p:cNvSpPr txBox="1"/>
          <p:nvPr/>
        </p:nvSpPr>
        <p:spPr>
          <a:xfrm>
            <a:off x="203834" y="385823"/>
            <a:ext cx="89401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Parallel Stream</a:t>
            </a:r>
          </a:p>
          <a:p>
            <a:endParaRPr lang="en-IN" dirty="0"/>
          </a:p>
          <a:p>
            <a:r>
              <a:rPr lang="en-IN" dirty="0"/>
              <a:t>List&lt;Integer&gt; numbers = </a:t>
            </a:r>
            <a:r>
              <a:rPr lang="en-IN" dirty="0" err="1"/>
              <a:t>Arrays.asList</a:t>
            </a:r>
            <a:r>
              <a:rPr lang="en-IN" dirty="0"/>
              <a:t>(1, 2, 3, 4, 5, 6);</a:t>
            </a:r>
          </a:p>
          <a:p>
            <a:r>
              <a:rPr lang="en-IN" dirty="0"/>
              <a:t>int sum = </a:t>
            </a:r>
            <a:r>
              <a:rPr lang="en-IN" dirty="0" err="1"/>
              <a:t>numbers.parallelStream</a:t>
            </a:r>
            <a:r>
              <a:rPr lang="en-IN" dirty="0"/>
              <a:t>()</a:t>
            </a:r>
          </a:p>
          <a:p>
            <a:r>
              <a:rPr lang="en-IN" dirty="0"/>
              <a:t>                 .filter(n -&gt; n % 2 == 0)</a:t>
            </a:r>
          </a:p>
          <a:p>
            <a:r>
              <a:rPr lang="en-IN" dirty="0"/>
              <a:t>                 .</a:t>
            </a:r>
            <a:r>
              <a:rPr lang="en-IN" dirty="0" err="1"/>
              <a:t>mapToInt</a:t>
            </a:r>
            <a:r>
              <a:rPr lang="en-IN" dirty="0"/>
              <a:t>(Integer::</a:t>
            </a:r>
            <a:r>
              <a:rPr lang="en-IN" dirty="0" err="1"/>
              <a:t>intValue</a:t>
            </a:r>
            <a:r>
              <a:rPr lang="en-IN" dirty="0"/>
              <a:t>)</a:t>
            </a:r>
          </a:p>
          <a:p>
            <a:r>
              <a:rPr lang="en-IN" dirty="0"/>
              <a:t>                 .sum();</a:t>
            </a:r>
          </a:p>
          <a:p>
            <a:r>
              <a:rPr lang="en-IN" dirty="0" err="1"/>
              <a:t>System.out.println</a:t>
            </a:r>
            <a:r>
              <a:rPr lang="en-IN" dirty="0"/>
              <a:t>(sum); // 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B50D28-86D5-54E6-34C0-EBC0F12B4CDE}"/>
              </a:ext>
            </a:extLst>
          </p:cNvPr>
          <p:cNvSpPr txBox="1"/>
          <p:nvPr/>
        </p:nvSpPr>
        <p:spPr>
          <a:xfrm>
            <a:off x="18096" y="2896731"/>
            <a:ext cx="931164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Method References</a:t>
            </a:r>
          </a:p>
          <a:p>
            <a:endParaRPr lang="en-IN" dirty="0"/>
          </a:p>
          <a:p>
            <a:r>
              <a:rPr lang="en-IN" dirty="0"/>
              <a:t>List&lt;String&gt; fruits = </a:t>
            </a:r>
            <a:r>
              <a:rPr lang="en-IN" dirty="0" err="1"/>
              <a:t>Arrays.asList</a:t>
            </a:r>
            <a:r>
              <a:rPr lang="en-IN" dirty="0"/>
              <a:t>("apple", "banana", "orange");</a:t>
            </a:r>
          </a:p>
          <a:p>
            <a:endParaRPr lang="en-IN" dirty="0"/>
          </a:p>
          <a:p>
            <a:r>
              <a:rPr lang="en-IN" dirty="0"/>
              <a:t>// Lambda</a:t>
            </a:r>
          </a:p>
          <a:p>
            <a:r>
              <a:rPr lang="en-IN" dirty="0"/>
              <a:t>	</a:t>
            </a:r>
            <a:r>
              <a:rPr lang="en-IN" dirty="0" err="1"/>
              <a:t>fruits.stream</a:t>
            </a:r>
            <a:r>
              <a:rPr lang="en-IN" dirty="0"/>
              <a:t>().</a:t>
            </a:r>
            <a:r>
              <a:rPr lang="en-IN" dirty="0" err="1"/>
              <a:t>forEach</a:t>
            </a:r>
            <a:r>
              <a:rPr lang="en-IN" dirty="0"/>
              <a:t>(f -&gt; </a:t>
            </a:r>
            <a:r>
              <a:rPr lang="en-IN" dirty="0" err="1"/>
              <a:t>System.out.println</a:t>
            </a:r>
            <a:r>
              <a:rPr lang="en-IN" dirty="0"/>
              <a:t>(f));</a:t>
            </a:r>
          </a:p>
          <a:p>
            <a:r>
              <a:rPr lang="en-IN" dirty="0"/>
              <a:t>// Method reference</a:t>
            </a:r>
          </a:p>
          <a:p>
            <a:r>
              <a:rPr lang="en-IN" dirty="0"/>
              <a:t>	</a:t>
            </a:r>
            <a:r>
              <a:rPr lang="en-IN" dirty="0" err="1"/>
              <a:t>fruits.stream</a:t>
            </a:r>
            <a:r>
              <a:rPr lang="en-IN" dirty="0"/>
              <a:t>().</a:t>
            </a:r>
            <a:r>
              <a:rPr lang="en-IN" dirty="0" err="1"/>
              <a:t>forEach</a:t>
            </a:r>
            <a:r>
              <a:rPr lang="en-IN" dirty="0"/>
              <a:t>(</a:t>
            </a:r>
            <a:r>
              <a:rPr lang="en-IN" dirty="0" err="1"/>
              <a:t>System.out</a:t>
            </a:r>
            <a:r>
              <a:rPr lang="en-IN" dirty="0"/>
              <a:t>::</a:t>
            </a:r>
            <a:r>
              <a:rPr lang="en-IN" dirty="0" err="1"/>
              <a:t>println</a:t>
            </a:r>
            <a:r>
              <a:rPr lang="en-IN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146347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20F8FC-A657-7AE0-3EA2-EF517F874666}"/>
              </a:ext>
            </a:extLst>
          </p:cNvPr>
          <p:cNvSpPr txBox="1"/>
          <p:nvPr/>
        </p:nvSpPr>
        <p:spPr>
          <a:xfrm>
            <a:off x="53340" y="755154"/>
            <a:ext cx="90906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1. Find duplicate elements in a list</a:t>
            </a:r>
            <a:endParaRPr lang="en-IN" b="1" dirty="0"/>
          </a:p>
          <a:p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</a:t>
            </a:r>
          </a:p>
          <a:p>
            <a:r>
              <a:rPr lang="en-IN" dirty="0"/>
              <a:t>import </a:t>
            </a:r>
            <a:r>
              <a:rPr lang="en-IN" dirty="0" err="1"/>
              <a:t>java.util.stream</a:t>
            </a:r>
            <a:r>
              <a:rPr lang="en-IN" dirty="0"/>
              <a:t>.*;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DuplicateExample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List&lt;String&gt; list = </a:t>
            </a:r>
            <a:r>
              <a:rPr lang="en-IN" dirty="0" err="1"/>
              <a:t>Arrays.asList</a:t>
            </a:r>
            <a:r>
              <a:rPr lang="en-IN" dirty="0"/>
              <a:t>("apple", "banana", "apple", "orange", "banana");</a:t>
            </a:r>
          </a:p>
          <a:p>
            <a:endParaRPr lang="en-IN" dirty="0"/>
          </a:p>
          <a:p>
            <a:r>
              <a:rPr lang="en-IN" dirty="0"/>
              <a:t>        Set&lt;String&gt; duplicates = </a:t>
            </a:r>
            <a:r>
              <a:rPr lang="en-IN" dirty="0" err="1"/>
              <a:t>list.stream</a:t>
            </a:r>
            <a:r>
              <a:rPr lang="en-IN" dirty="0"/>
              <a:t>()</a:t>
            </a:r>
          </a:p>
          <a:p>
            <a:r>
              <a:rPr lang="en-IN" dirty="0"/>
              <a:t>                                     .filter(</a:t>
            </a:r>
            <a:r>
              <a:rPr lang="en-IN" dirty="0" err="1"/>
              <a:t>i</a:t>
            </a:r>
            <a:r>
              <a:rPr lang="en-IN" dirty="0"/>
              <a:t> -&gt; </a:t>
            </a:r>
            <a:r>
              <a:rPr lang="en-IN" dirty="0" err="1"/>
              <a:t>Collections.frequency</a:t>
            </a:r>
            <a:r>
              <a:rPr lang="en-IN" dirty="0"/>
              <a:t>(list, </a:t>
            </a:r>
            <a:r>
              <a:rPr lang="en-IN" dirty="0" err="1"/>
              <a:t>i</a:t>
            </a:r>
            <a:r>
              <a:rPr lang="en-IN" dirty="0"/>
              <a:t>) &gt; 1)</a:t>
            </a:r>
          </a:p>
          <a:p>
            <a:r>
              <a:rPr lang="en-IN" dirty="0"/>
              <a:t>                                     .collect(</a:t>
            </a:r>
            <a:r>
              <a:rPr lang="en-IN" dirty="0" err="1"/>
              <a:t>Collectors.toSet</a:t>
            </a:r>
            <a:r>
              <a:rPr lang="en-IN" dirty="0"/>
              <a:t>());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(duplicates); // [apple, banana]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172809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3B4E43-0D18-AE79-9CED-CE423DD44FB3}"/>
              </a:ext>
            </a:extLst>
          </p:cNvPr>
          <p:cNvSpPr txBox="1"/>
          <p:nvPr/>
        </p:nvSpPr>
        <p:spPr>
          <a:xfrm>
            <a:off x="140970" y="278190"/>
            <a:ext cx="8862060" cy="24776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Find first non-repeated character in a string</a:t>
            </a:r>
          </a:p>
          <a:p>
            <a:endParaRPr lang="en-IN" sz="800" dirty="0"/>
          </a:p>
          <a:p>
            <a:r>
              <a:rPr lang="en-IN" dirty="0"/>
              <a:t> String str = "</a:t>
            </a:r>
            <a:r>
              <a:rPr lang="en-IN" dirty="0" err="1"/>
              <a:t>swiss</a:t>
            </a:r>
            <a:r>
              <a:rPr lang="en-IN" dirty="0"/>
              <a:t>";</a:t>
            </a:r>
          </a:p>
          <a:p>
            <a:r>
              <a:rPr lang="en-IN" dirty="0"/>
              <a:t>Optional&lt;Character&gt; </a:t>
            </a:r>
            <a:r>
              <a:rPr lang="en-IN" dirty="0" err="1"/>
              <a:t>firstNonRepeated</a:t>
            </a:r>
            <a:r>
              <a:rPr lang="en-IN" dirty="0"/>
              <a:t> = </a:t>
            </a:r>
            <a:r>
              <a:rPr lang="en-IN" dirty="0" err="1"/>
              <a:t>str.chars</a:t>
            </a:r>
            <a:r>
              <a:rPr lang="en-IN" dirty="0"/>
              <a:t>()</a:t>
            </a:r>
          </a:p>
          <a:p>
            <a:r>
              <a:rPr lang="en-IN" dirty="0"/>
              <a:t>                                          .</a:t>
            </a:r>
            <a:r>
              <a:rPr lang="en-IN" dirty="0" err="1"/>
              <a:t>mapToObj</a:t>
            </a:r>
            <a:r>
              <a:rPr lang="en-IN" dirty="0"/>
              <a:t>(c -&gt; (char)c)</a:t>
            </a:r>
          </a:p>
          <a:p>
            <a:r>
              <a:rPr lang="en-IN" dirty="0"/>
              <a:t>                                          .filter(c -&gt; </a:t>
            </a:r>
            <a:r>
              <a:rPr lang="en-IN" dirty="0" err="1"/>
              <a:t>str.indexOf</a:t>
            </a:r>
            <a:r>
              <a:rPr lang="en-IN" dirty="0"/>
              <a:t>(c) == </a:t>
            </a:r>
            <a:r>
              <a:rPr lang="en-IN" dirty="0" err="1"/>
              <a:t>str.lastIndexOf</a:t>
            </a:r>
            <a:r>
              <a:rPr lang="en-IN" dirty="0"/>
              <a:t>(c))</a:t>
            </a:r>
          </a:p>
          <a:p>
            <a:r>
              <a:rPr lang="en-IN" dirty="0"/>
              <a:t>                                          .</a:t>
            </a:r>
            <a:r>
              <a:rPr lang="en-IN" dirty="0" err="1"/>
              <a:t>findFirst</a:t>
            </a:r>
            <a:r>
              <a:rPr lang="en-IN" dirty="0"/>
              <a:t>();</a:t>
            </a:r>
          </a:p>
          <a:p>
            <a:endParaRPr lang="en-IN" dirty="0"/>
          </a:p>
          <a:p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firstNonRepeated.orElse</a:t>
            </a:r>
            <a:r>
              <a:rPr lang="en-IN" dirty="0"/>
              <a:t>(null)); // 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606E2B-2F5A-F666-F42F-786FAAD32880}"/>
              </a:ext>
            </a:extLst>
          </p:cNvPr>
          <p:cNvSpPr txBox="1"/>
          <p:nvPr/>
        </p:nvSpPr>
        <p:spPr>
          <a:xfrm>
            <a:off x="140970" y="3138369"/>
            <a:ext cx="894207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3. Count occurrences of each element</a:t>
            </a:r>
          </a:p>
          <a:p>
            <a:endParaRPr lang="en-IN" dirty="0"/>
          </a:p>
          <a:p>
            <a:r>
              <a:rPr lang="en-IN" dirty="0"/>
              <a:t>List&lt;String&gt; list = </a:t>
            </a:r>
            <a:r>
              <a:rPr lang="en-IN" dirty="0" err="1"/>
              <a:t>Arrays.asList</a:t>
            </a:r>
            <a:r>
              <a:rPr lang="en-IN" dirty="0"/>
              <a:t>("apple", "banana", "apple", "orange", "banana");</a:t>
            </a:r>
          </a:p>
          <a:p>
            <a:r>
              <a:rPr lang="en-IN" dirty="0"/>
              <a:t>Map&lt;String, Long&gt; counts = </a:t>
            </a:r>
            <a:r>
              <a:rPr lang="en-IN" dirty="0" err="1"/>
              <a:t>list.stream</a:t>
            </a:r>
            <a:r>
              <a:rPr lang="en-IN" dirty="0"/>
              <a:t>()</a:t>
            </a:r>
          </a:p>
          <a:p>
            <a:r>
              <a:rPr lang="en-IN" dirty="0"/>
              <a:t>                               .collect(</a:t>
            </a:r>
            <a:r>
              <a:rPr lang="en-IN" dirty="0" err="1"/>
              <a:t>Collectors.groupingBy</a:t>
            </a:r>
            <a:r>
              <a:rPr lang="en-IN" dirty="0"/>
              <a:t>(e -&gt; e, </a:t>
            </a:r>
            <a:r>
              <a:rPr lang="en-IN" dirty="0" err="1"/>
              <a:t>Collectors.counting</a:t>
            </a:r>
            <a:r>
              <a:rPr lang="en-IN" dirty="0"/>
              <a:t>()));</a:t>
            </a:r>
          </a:p>
          <a:p>
            <a:endParaRPr lang="en-IN" dirty="0"/>
          </a:p>
          <a:p>
            <a:r>
              <a:rPr lang="en-IN" dirty="0" err="1"/>
              <a:t>System.out.println</a:t>
            </a:r>
            <a:r>
              <a:rPr lang="en-IN" dirty="0"/>
              <a:t>(counts); // {orange=1, banana=2, apple=2}</a:t>
            </a:r>
          </a:p>
        </p:txBody>
      </p:sp>
    </p:spTree>
    <p:extLst>
      <p:ext uri="{BB962C8B-B14F-4D97-AF65-F5344CB8AC3E}">
        <p14:creationId xmlns:p14="http://schemas.microsoft.com/office/powerpoint/2010/main" val="40116405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7AE915-3146-F01B-18C6-47514960EE1E}"/>
              </a:ext>
            </a:extLst>
          </p:cNvPr>
          <p:cNvSpPr txBox="1"/>
          <p:nvPr/>
        </p:nvSpPr>
        <p:spPr>
          <a:xfrm>
            <a:off x="167640" y="201156"/>
            <a:ext cx="886968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4. Convert List of objects to Map</a:t>
            </a:r>
          </a:p>
          <a:p>
            <a:endParaRPr lang="en-IN" dirty="0"/>
          </a:p>
          <a:p>
            <a:r>
              <a:rPr lang="en-IN" dirty="0"/>
              <a:t>class Person {</a:t>
            </a:r>
          </a:p>
          <a:p>
            <a:r>
              <a:rPr lang="en-IN" dirty="0"/>
              <a:t>    String name;</a:t>
            </a:r>
          </a:p>
          <a:p>
            <a:r>
              <a:rPr lang="en-IN" dirty="0"/>
              <a:t>    int age;</a:t>
            </a:r>
          </a:p>
          <a:p>
            <a:r>
              <a:rPr lang="en-IN" dirty="0"/>
              <a:t>    Person(String name, int age) { this.name = name; </a:t>
            </a:r>
            <a:r>
              <a:rPr lang="en-IN" dirty="0" err="1"/>
              <a:t>this.age</a:t>
            </a:r>
            <a:r>
              <a:rPr lang="en-IN" dirty="0"/>
              <a:t> = age; }</a:t>
            </a:r>
          </a:p>
          <a:p>
            <a:r>
              <a:rPr lang="en-IN" dirty="0"/>
              <a:t>}</a:t>
            </a:r>
          </a:p>
          <a:p>
            <a:endParaRPr lang="en-IN" sz="1000" dirty="0"/>
          </a:p>
          <a:p>
            <a:r>
              <a:rPr lang="en-IN" dirty="0"/>
              <a:t>List&lt;Person&gt; people = </a:t>
            </a:r>
            <a:r>
              <a:rPr lang="en-IN" dirty="0" err="1"/>
              <a:t>Arrays.asList</a:t>
            </a:r>
            <a:r>
              <a:rPr lang="en-IN" dirty="0"/>
              <a:t>(</a:t>
            </a:r>
          </a:p>
          <a:p>
            <a:r>
              <a:rPr lang="en-IN" dirty="0"/>
              <a:t>    new Person("Alice", 23),</a:t>
            </a:r>
          </a:p>
          <a:p>
            <a:r>
              <a:rPr lang="en-IN" dirty="0"/>
              <a:t>    new Person("Bob", 30),</a:t>
            </a:r>
          </a:p>
          <a:p>
            <a:r>
              <a:rPr lang="en-IN" dirty="0"/>
              <a:t>    new Person("Charlie", 23)</a:t>
            </a:r>
          </a:p>
          <a:p>
            <a:r>
              <a:rPr lang="en-IN" dirty="0"/>
              <a:t>);</a:t>
            </a:r>
          </a:p>
          <a:p>
            <a:r>
              <a:rPr lang="en-IN" dirty="0"/>
              <a:t>Map&lt;String, Integer&gt; </a:t>
            </a:r>
            <a:r>
              <a:rPr lang="en-IN" dirty="0" err="1"/>
              <a:t>nameAgeMap</a:t>
            </a:r>
            <a:r>
              <a:rPr lang="en-IN" dirty="0"/>
              <a:t> = </a:t>
            </a:r>
            <a:r>
              <a:rPr lang="en-IN" dirty="0" err="1"/>
              <a:t>people.stream</a:t>
            </a:r>
            <a:r>
              <a:rPr lang="en-IN" dirty="0"/>
              <a:t>()</a:t>
            </a:r>
          </a:p>
          <a:p>
            <a:r>
              <a:rPr lang="en-IN" dirty="0"/>
              <a:t>                                        .collect(</a:t>
            </a:r>
            <a:r>
              <a:rPr lang="en-IN" dirty="0" err="1"/>
              <a:t>Collectors.toMap</a:t>
            </a:r>
            <a:r>
              <a:rPr lang="en-IN" dirty="0"/>
              <a:t>(</a:t>
            </a:r>
          </a:p>
          <a:p>
            <a:r>
              <a:rPr lang="en-IN" dirty="0"/>
              <a:t>                                            p -&gt; p.name,</a:t>
            </a:r>
          </a:p>
          <a:p>
            <a:r>
              <a:rPr lang="en-IN" dirty="0"/>
              <a:t>                                            p -&gt; </a:t>
            </a:r>
            <a:r>
              <a:rPr lang="en-IN" dirty="0" err="1"/>
              <a:t>p.age</a:t>
            </a:r>
            <a:endParaRPr lang="en-IN" dirty="0"/>
          </a:p>
          <a:p>
            <a:r>
              <a:rPr lang="en-IN" dirty="0"/>
              <a:t>                                        ));</a:t>
            </a:r>
          </a:p>
          <a:p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nameAgeMap</a:t>
            </a:r>
            <a:r>
              <a:rPr lang="en-IN" dirty="0"/>
              <a:t>); // {Alice=23, Bob=30, Charlie=23}</a:t>
            </a:r>
          </a:p>
        </p:txBody>
      </p:sp>
    </p:spTree>
    <p:extLst>
      <p:ext uri="{BB962C8B-B14F-4D97-AF65-F5344CB8AC3E}">
        <p14:creationId xmlns:p14="http://schemas.microsoft.com/office/powerpoint/2010/main" val="4653679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A6AF0D-229C-4987-9C36-ABB174B6AF6B}"/>
              </a:ext>
            </a:extLst>
          </p:cNvPr>
          <p:cNvSpPr txBox="1"/>
          <p:nvPr/>
        </p:nvSpPr>
        <p:spPr>
          <a:xfrm>
            <a:off x="0" y="172849"/>
            <a:ext cx="8686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5. Partitioning data (true/false)</a:t>
            </a:r>
          </a:p>
          <a:p>
            <a:endParaRPr lang="en-IN" dirty="0"/>
          </a:p>
          <a:p>
            <a:r>
              <a:rPr lang="en-IN" dirty="0"/>
              <a:t>List&lt;Integer&gt; numbers = </a:t>
            </a:r>
            <a:r>
              <a:rPr lang="en-IN" dirty="0" err="1"/>
              <a:t>Arrays.asList</a:t>
            </a:r>
            <a:r>
              <a:rPr lang="en-IN" dirty="0"/>
              <a:t>(1, 2, 3, 4, 5, 6);</a:t>
            </a:r>
          </a:p>
          <a:p>
            <a:r>
              <a:rPr lang="en-IN" dirty="0"/>
              <a:t>Map&lt;Boolean, List&lt;Integer&gt;&gt; partition = </a:t>
            </a:r>
            <a:r>
              <a:rPr lang="en-IN" dirty="0" err="1"/>
              <a:t>numbers.stream</a:t>
            </a:r>
            <a:r>
              <a:rPr lang="en-IN" dirty="0"/>
              <a:t>()</a:t>
            </a:r>
          </a:p>
          <a:p>
            <a:r>
              <a:rPr lang="en-IN" dirty="0"/>
              <a:t>                                               .collect(</a:t>
            </a:r>
            <a:r>
              <a:rPr lang="en-IN" dirty="0" err="1"/>
              <a:t>Collectors.partitioningBy</a:t>
            </a:r>
            <a:r>
              <a:rPr lang="en-IN" dirty="0"/>
              <a:t>(n -&gt; n % 2 == 0));</a:t>
            </a:r>
          </a:p>
          <a:p>
            <a:endParaRPr lang="en-IN" dirty="0"/>
          </a:p>
          <a:p>
            <a:r>
              <a:rPr lang="en-IN" dirty="0" err="1"/>
              <a:t>System.out.println</a:t>
            </a:r>
            <a:r>
              <a:rPr lang="en-IN" dirty="0"/>
              <a:t>(partition); </a:t>
            </a:r>
          </a:p>
          <a:p>
            <a:r>
              <a:rPr lang="en-IN" dirty="0"/>
              <a:t>// {false=[1, 3, 5], true=[2, 4, 6]}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9BDC4-4048-70F5-EE23-E20353F86EEB}"/>
              </a:ext>
            </a:extLst>
          </p:cNvPr>
          <p:cNvSpPr txBox="1"/>
          <p:nvPr/>
        </p:nvSpPr>
        <p:spPr>
          <a:xfrm>
            <a:off x="0" y="2543592"/>
            <a:ext cx="893064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6. Flattening a list of lists</a:t>
            </a:r>
          </a:p>
          <a:p>
            <a:endParaRPr lang="en-IN" sz="1200" dirty="0"/>
          </a:p>
          <a:p>
            <a:r>
              <a:rPr lang="en-IN" dirty="0"/>
              <a:t>List&lt;List&lt;String&gt;&gt; </a:t>
            </a:r>
            <a:r>
              <a:rPr lang="en-IN" dirty="0" err="1"/>
              <a:t>listOfLists</a:t>
            </a:r>
            <a:r>
              <a:rPr lang="en-IN" dirty="0"/>
              <a:t> = </a:t>
            </a:r>
            <a:r>
              <a:rPr lang="en-IN" dirty="0" err="1"/>
              <a:t>Arrays.asList</a:t>
            </a:r>
            <a:r>
              <a:rPr lang="en-IN" dirty="0"/>
              <a:t>(     </a:t>
            </a:r>
            <a:r>
              <a:rPr lang="en-IN" dirty="0" err="1"/>
              <a:t>Arrays.asList</a:t>
            </a:r>
            <a:r>
              <a:rPr lang="en-IN" dirty="0"/>
              <a:t>("a", "b"),</a:t>
            </a:r>
          </a:p>
          <a:p>
            <a:r>
              <a:rPr lang="en-IN" dirty="0"/>
              <a:t>    										    </a:t>
            </a:r>
            <a:r>
              <a:rPr lang="en-IN" dirty="0" err="1"/>
              <a:t>Arrays.asList</a:t>
            </a:r>
            <a:r>
              <a:rPr lang="en-IN" dirty="0"/>
              <a:t>("c", "d"),</a:t>
            </a:r>
          </a:p>
          <a:p>
            <a:r>
              <a:rPr lang="en-IN" dirty="0"/>
              <a:t>    										    </a:t>
            </a:r>
            <a:r>
              <a:rPr lang="en-IN" dirty="0" err="1"/>
              <a:t>Arrays.asList</a:t>
            </a:r>
            <a:r>
              <a:rPr lang="en-IN" dirty="0"/>
              <a:t>("e")  );</a:t>
            </a:r>
          </a:p>
          <a:p>
            <a:endParaRPr lang="en-IN" dirty="0"/>
          </a:p>
          <a:p>
            <a:r>
              <a:rPr lang="en-IN" dirty="0"/>
              <a:t>List&lt;String&gt; </a:t>
            </a:r>
            <a:r>
              <a:rPr lang="en-IN" dirty="0" err="1"/>
              <a:t>flatList</a:t>
            </a:r>
            <a:r>
              <a:rPr lang="en-IN" dirty="0"/>
              <a:t> = </a:t>
            </a:r>
            <a:r>
              <a:rPr lang="en-IN" dirty="0" err="1"/>
              <a:t>listOfLists.stream</a:t>
            </a:r>
            <a:r>
              <a:rPr lang="en-IN" dirty="0"/>
              <a:t>()</a:t>
            </a:r>
          </a:p>
          <a:p>
            <a:r>
              <a:rPr lang="en-IN" dirty="0"/>
              <a:t>                                   .</a:t>
            </a:r>
            <a:r>
              <a:rPr lang="en-IN" dirty="0" err="1"/>
              <a:t>flatMap</a:t>
            </a:r>
            <a:r>
              <a:rPr lang="en-IN" dirty="0"/>
              <a:t>(Collection::stream)</a:t>
            </a:r>
          </a:p>
          <a:p>
            <a:r>
              <a:rPr lang="en-IN" dirty="0"/>
              <a:t>                                   .collect(</a:t>
            </a:r>
            <a:r>
              <a:rPr lang="en-IN" dirty="0" err="1"/>
              <a:t>Collectors.toList</a:t>
            </a:r>
            <a:r>
              <a:rPr lang="en-IN" dirty="0"/>
              <a:t>());</a:t>
            </a:r>
          </a:p>
          <a:p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flatList</a:t>
            </a:r>
            <a:r>
              <a:rPr lang="en-IN" dirty="0"/>
              <a:t>); // [a, b, c, d, e]</a:t>
            </a:r>
          </a:p>
        </p:txBody>
      </p:sp>
    </p:spTree>
    <p:extLst>
      <p:ext uri="{BB962C8B-B14F-4D97-AF65-F5344CB8AC3E}">
        <p14:creationId xmlns:p14="http://schemas.microsoft.com/office/powerpoint/2010/main" val="33370242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1079E7-4A57-5428-6941-FB819FEECE4F}"/>
              </a:ext>
            </a:extLst>
          </p:cNvPr>
          <p:cNvSpPr txBox="1"/>
          <p:nvPr/>
        </p:nvSpPr>
        <p:spPr>
          <a:xfrm>
            <a:off x="180974" y="402789"/>
            <a:ext cx="896302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7. Find max by custom comparator</a:t>
            </a:r>
          </a:p>
          <a:p>
            <a:endParaRPr lang="en-IN" dirty="0"/>
          </a:p>
          <a:p>
            <a:r>
              <a:rPr lang="en-IN" dirty="0"/>
              <a:t>List&lt;String&gt; fruits = </a:t>
            </a:r>
            <a:r>
              <a:rPr lang="en-IN" dirty="0" err="1"/>
              <a:t>Arrays.asList</a:t>
            </a:r>
            <a:r>
              <a:rPr lang="en-IN" dirty="0"/>
              <a:t>("apple", "banana", "orange");</a:t>
            </a:r>
          </a:p>
          <a:p>
            <a:r>
              <a:rPr lang="en-IN" dirty="0"/>
              <a:t>String longest = </a:t>
            </a:r>
            <a:r>
              <a:rPr lang="en-IN" dirty="0" err="1"/>
              <a:t>fruits.stream</a:t>
            </a:r>
            <a:r>
              <a:rPr lang="en-IN" dirty="0"/>
              <a:t>()</a:t>
            </a:r>
          </a:p>
          <a:p>
            <a:r>
              <a:rPr lang="en-IN" dirty="0"/>
              <a:t>                       .max(</a:t>
            </a:r>
            <a:r>
              <a:rPr lang="en-IN" dirty="0" err="1"/>
              <a:t>Comparator.comparingInt</a:t>
            </a:r>
            <a:r>
              <a:rPr lang="en-IN" dirty="0"/>
              <a:t>(String::length))</a:t>
            </a:r>
          </a:p>
          <a:p>
            <a:r>
              <a:rPr lang="en-IN" dirty="0"/>
              <a:t>                       .</a:t>
            </a:r>
            <a:r>
              <a:rPr lang="en-IN" dirty="0" err="1"/>
              <a:t>orElse</a:t>
            </a:r>
            <a:r>
              <a:rPr lang="en-IN" dirty="0"/>
              <a:t>("");</a:t>
            </a:r>
          </a:p>
          <a:p>
            <a:endParaRPr lang="en-IN" dirty="0"/>
          </a:p>
          <a:p>
            <a:r>
              <a:rPr lang="en-IN" dirty="0" err="1"/>
              <a:t>System.out.println</a:t>
            </a:r>
            <a:r>
              <a:rPr lang="en-IN" dirty="0"/>
              <a:t>(longest); // banana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29DC04-FDFE-02A3-1873-992609D4BF45}"/>
              </a:ext>
            </a:extLst>
          </p:cNvPr>
          <p:cNvSpPr txBox="1"/>
          <p:nvPr/>
        </p:nvSpPr>
        <p:spPr>
          <a:xfrm>
            <a:off x="179070" y="3017312"/>
            <a:ext cx="87858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8. Join strings with delimiter</a:t>
            </a:r>
          </a:p>
          <a:p>
            <a:endParaRPr lang="en-IN" dirty="0"/>
          </a:p>
          <a:p>
            <a:r>
              <a:rPr lang="en-IN" dirty="0"/>
              <a:t>List&lt;String&gt; words = </a:t>
            </a:r>
            <a:r>
              <a:rPr lang="en-IN" dirty="0" err="1"/>
              <a:t>Arrays.asList</a:t>
            </a:r>
            <a:r>
              <a:rPr lang="en-IN" dirty="0"/>
              <a:t>("Java", "Stream", "API");</a:t>
            </a:r>
          </a:p>
          <a:p>
            <a:r>
              <a:rPr lang="en-IN" dirty="0"/>
              <a:t>String result = </a:t>
            </a:r>
            <a:r>
              <a:rPr lang="en-IN" dirty="0" err="1"/>
              <a:t>words.stream</a:t>
            </a:r>
            <a:r>
              <a:rPr lang="en-IN" dirty="0"/>
              <a:t>()</a:t>
            </a:r>
          </a:p>
          <a:p>
            <a:r>
              <a:rPr lang="en-IN" dirty="0"/>
              <a:t>                     .collect(</a:t>
            </a:r>
            <a:r>
              <a:rPr lang="en-IN" dirty="0" err="1"/>
              <a:t>Collectors.joining</a:t>
            </a:r>
            <a:r>
              <a:rPr lang="en-IN" dirty="0"/>
              <a:t>(" -&gt; "));</a:t>
            </a:r>
          </a:p>
          <a:p>
            <a:endParaRPr lang="en-IN" dirty="0"/>
          </a:p>
          <a:p>
            <a:r>
              <a:rPr lang="en-IN" dirty="0" err="1"/>
              <a:t>System.out.println</a:t>
            </a:r>
            <a:r>
              <a:rPr lang="en-IN" dirty="0"/>
              <a:t>(result); // Java -&gt; Stream -&gt; API</a:t>
            </a:r>
          </a:p>
        </p:txBody>
      </p:sp>
    </p:spTree>
    <p:extLst>
      <p:ext uri="{BB962C8B-B14F-4D97-AF65-F5344CB8AC3E}">
        <p14:creationId xmlns:p14="http://schemas.microsoft.com/office/powerpoint/2010/main" val="25724837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4A80B7-00F5-A48B-8B3E-8EB151E63787}"/>
              </a:ext>
            </a:extLst>
          </p:cNvPr>
          <p:cNvSpPr txBox="1"/>
          <p:nvPr/>
        </p:nvSpPr>
        <p:spPr>
          <a:xfrm>
            <a:off x="120014" y="461486"/>
            <a:ext cx="90239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9. Reduce to find factorial</a:t>
            </a:r>
          </a:p>
          <a:p>
            <a:endParaRPr lang="en-IN" dirty="0"/>
          </a:p>
          <a:p>
            <a:r>
              <a:rPr lang="en-IN" dirty="0"/>
              <a:t>int n = 5;</a:t>
            </a:r>
          </a:p>
          <a:p>
            <a:r>
              <a:rPr lang="en-IN" dirty="0"/>
              <a:t>int factorial = </a:t>
            </a:r>
            <a:r>
              <a:rPr lang="en-IN" dirty="0" err="1"/>
              <a:t>IntStream.rangeClosed</a:t>
            </a:r>
            <a:r>
              <a:rPr lang="en-IN" dirty="0"/>
              <a:t>(1, n)</a:t>
            </a:r>
          </a:p>
          <a:p>
            <a:r>
              <a:rPr lang="en-IN" dirty="0"/>
              <a:t>                         .reduce(1, (a, b) -&gt; a * b);</a:t>
            </a:r>
          </a:p>
          <a:p>
            <a:endParaRPr lang="en-IN" dirty="0"/>
          </a:p>
          <a:p>
            <a:r>
              <a:rPr lang="en-IN" dirty="0" err="1"/>
              <a:t>System.out.println</a:t>
            </a:r>
            <a:r>
              <a:rPr lang="en-IN" dirty="0"/>
              <a:t>(factorial); // 120</a:t>
            </a:r>
          </a:p>
        </p:txBody>
      </p:sp>
    </p:spTree>
    <p:extLst>
      <p:ext uri="{BB962C8B-B14F-4D97-AF65-F5344CB8AC3E}">
        <p14:creationId xmlns:p14="http://schemas.microsoft.com/office/powerpoint/2010/main" val="31260949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3ABB0C-0F6D-A0FF-EFB2-2225ED99272C}"/>
              </a:ext>
            </a:extLst>
          </p:cNvPr>
          <p:cNvSpPr txBox="1"/>
          <p:nvPr/>
        </p:nvSpPr>
        <p:spPr>
          <a:xfrm>
            <a:off x="190500" y="358914"/>
            <a:ext cx="89535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10. Group by multiple criteria (age + name)</a:t>
            </a:r>
          </a:p>
          <a:p>
            <a:endParaRPr lang="en-IN" dirty="0"/>
          </a:p>
          <a:p>
            <a:r>
              <a:rPr lang="en-IN" dirty="0"/>
              <a:t>List&lt;Person&gt; people = </a:t>
            </a:r>
            <a:r>
              <a:rPr lang="en-IN" dirty="0" err="1"/>
              <a:t>Arrays.asList</a:t>
            </a:r>
            <a:r>
              <a:rPr lang="en-IN" dirty="0"/>
              <a:t>(</a:t>
            </a:r>
          </a:p>
          <a:p>
            <a:r>
              <a:rPr lang="en-IN" dirty="0"/>
              <a:t>    new Person("Alice", 23),</a:t>
            </a:r>
          </a:p>
          <a:p>
            <a:r>
              <a:rPr lang="en-IN" dirty="0"/>
              <a:t>    new Person("Bob", 30),</a:t>
            </a:r>
          </a:p>
          <a:p>
            <a:r>
              <a:rPr lang="en-IN" dirty="0"/>
              <a:t>    new Person("Charlie", 23),</a:t>
            </a:r>
          </a:p>
          <a:p>
            <a:r>
              <a:rPr lang="en-IN" dirty="0"/>
              <a:t>    new Person("David", 30)</a:t>
            </a:r>
          </a:p>
          <a:p>
            <a:r>
              <a:rPr lang="en-IN" dirty="0"/>
              <a:t>);</a:t>
            </a:r>
          </a:p>
          <a:p>
            <a:endParaRPr lang="en-IN" dirty="0"/>
          </a:p>
          <a:p>
            <a:r>
              <a:rPr lang="en-IN" dirty="0"/>
              <a:t>Map&lt;Integer, List&lt;String&gt;&gt; grouped = </a:t>
            </a:r>
            <a:r>
              <a:rPr lang="en-IN" dirty="0" err="1"/>
              <a:t>people.stream</a:t>
            </a:r>
            <a:r>
              <a:rPr lang="en-IN" dirty="0"/>
              <a:t>()</a:t>
            </a:r>
          </a:p>
          <a:p>
            <a:r>
              <a:rPr lang="en-IN" dirty="0"/>
              <a:t>                                           .collect(</a:t>
            </a:r>
            <a:r>
              <a:rPr lang="en-IN" dirty="0" err="1"/>
              <a:t>Collectors.groupingBy</a:t>
            </a:r>
            <a:r>
              <a:rPr lang="en-IN" dirty="0"/>
              <a:t>(</a:t>
            </a:r>
          </a:p>
          <a:p>
            <a:r>
              <a:rPr lang="en-IN" dirty="0"/>
              <a:t>                                               p -&gt; </a:t>
            </a:r>
            <a:r>
              <a:rPr lang="en-IN" dirty="0" err="1"/>
              <a:t>p.age</a:t>
            </a:r>
            <a:r>
              <a:rPr lang="en-IN" dirty="0"/>
              <a:t>,</a:t>
            </a:r>
          </a:p>
          <a:p>
            <a:r>
              <a:rPr lang="en-IN" dirty="0"/>
              <a:t>                                               </a:t>
            </a:r>
            <a:r>
              <a:rPr lang="en-IN" dirty="0" err="1"/>
              <a:t>Collectors.mapping</a:t>
            </a:r>
            <a:r>
              <a:rPr lang="en-IN" dirty="0"/>
              <a:t>(p -&gt; p.name, </a:t>
            </a:r>
            <a:r>
              <a:rPr lang="en-IN" dirty="0" err="1"/>
              <a:t>Collectors.toList</a:t>
            </a:r>
            <a:r>
              <a:rPr lang="en-IN" dirty="0"/>
              <a:t>())</a:t>
            </a:r>
          </a:p>
          <a:p>
            <a:r>
              <a:rPr lang="en-IN" dirty="0"/>
              <a:t>                                           ));</a:t>
            </a:r>
          </a:p>
          <a:p>
            <a:endParaRPr lang="en-IN" dirty="0"/>
          </a:p>
          <a:p>
            <a:r>
              <a:rPr lang="en-IN" dirty="0" err="1"/>
              <a:t>System.out.println</a:t>
            </a:r>
            <a:r>
              <a:rPr lang="en-IN" dirty="0"/>
              <a:t>(grouped); </a:t>
            </a:r>
          </a:p>
          <a:p>
            <a:r>
              <a:rPr lang="en-IN" dirty="0"/>
              <a:t>// {23=[Alice, Charlie], 30=[Bob, David]}</a:t>
            </a:r>
          </a:p>
        </p:txBody>
      </p:sp>
    </p:spTree>
    <p:extLst>
      <p:ext uri="{BB962C8B-B14F-4D97-AF65-F5344CB8AC3E}">
        <p14:creationId xmlns:p14="http://schemas.microsoft.com/office/powerpoint/2010/main" val="14168718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79" y="888050"/>
            <a:ext cx="6347714" cy="3880773"/>
          </a:xfrm>
        </p:spPr>
        <p:txBody>
          <a:bodyPr/>
          <a:lstStyle/>
          <a:p>
            <a:endParaRPr dirty="0"/>
          </a:p>
          <a:p>
            <a:r>
              <a:rPr sz="2000" dirty="0">
                <a:solidFill>
                  <a:srgbClr val="000000"/>
                </a:solidFill>
                <a:latin typeface="Times New Roman"/>
              </a:rPr>
              <a:t>Flow: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Collection -&gt; Stream -&gt; Intermediate Operations -&gt; Terminal Operation</a:t>
            </a:r>
            <a:br>
              <a:rPr dirty="0"/>
            </a:b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Example:</a:t>
            </a:r>
            <a:br>
              <a:rPr dirty="0"/>
            </a:br>
            <a:r>
              <a:rPr sz="2000" dirty="0" err="1">
                <a:solidFill>
                  <a:srgbClr val="000000"/>
                </a:solidFill>
                <a:latin typeface="Times New Roman"/>
              </a:rPr>
              <a:t>data.stream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()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   .filter(x -&gt; condition)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   .map(y -&gt; transform)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   .collect(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Collectors.toList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());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60400"/>
          </a:xfrm>
        </p:spPr>
        <p:txBody>
          <a:bodyPr>
            <a:normAutofit/>
          </a:bodyPr>
          <a:lstStyle/>
          <a:p>
            <a:r>
              <a:rPr sz="2400" dirty="0"/>
              <a:t>Optional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8" y="1277620"/>
            <a:ext cx="7513321" cy="3880773"/>
          </a:xfrm>
        </p:spPr>
        <p:txBody>
          <a:bodyPr/>
          <a:lstStyle/>
          <a:p>
            <a:endParaRPr dirty="0"/>
          </a:p>
          <a:p>
            <a:r>
              <a:rPr sz="2000" dirty="0">
                <a:solidFill>
                  <a:srgbClr val="000000"/>
                </a:solidFill>
                <a:latin typeface="Times New Roman"/>
              </a:rPr>
              <a:t>Prevents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NullPointerException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.</a:t>
            </a:r>
            <a:br>
              <a:rPr dirty="0"/>
            </a:b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Example: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Optional&lt;String&gt; name =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Optional.ofNullable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(null);</a:t>
            </a:r>
            <a:br>
              <a:rPr dirty="0"/>
            </a:br>
            <a:r>
              <a:rPr sz="2000" dirty="0" err="1">
                <a:solidFill>
                  <a:srgbClr val="000000"/>
                </a:solidFill>
                <a:latin typeface="Times New Roman"/>
              </a:rPr>
              <a:t>System.out.println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name.orElse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("Default"));</a:t>
            </a:r>
            <a:br>
              <a:rPr dirty="0"/>
            </a:b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Key Methods: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isPresent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()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ifPresent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()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orElse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()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- map()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594360"/>
          </a:xfrm>
        </p:spPr>
        <p:txBody>
          <a:bodyPr>
            <a:normAutofit/>
          </a:bodyPr>
          <a:lstStyle/>
          <a:p>
            <a:r>
              <a:rPr sz="2200" dirty="0"/>
              <a:t>Default and Static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418" y="1109030"/>
            <a:ext cx="8763001" cy="3880773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sz="2000" dirty="0">
                <a:solidFill>
                  <a:srgbClr val="000000"/>
                </a:solidFill>
                <a:latin typeface="Times New Roman"/>
              </a:rPr>
              <a:t>Interfaces can have implemented methods.</a:t>
            </a:r>
            <a:br>
              <a:rPr dirty="0"/>
            </a:b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Example: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interface Vehicle {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   default void start() {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      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System.out.println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("Starting...");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   }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   static void stop() {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      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System.out.println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("Stopped.");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   }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}</a:t>
            </a:r>
            <a:br>
              <a:rPr dirty="0"/>
            </a:br>
            <a:br>
              <a:rPr dirty="0"/>
            </a:br>
            <a:r>
              <a:rPr sz="2000" dirty="0" err="1">
                <a:solidFill>
                  <a:srgbClr val="000000"/>
                </a:solidFill>
                <a:latin typeface="Times New Roman"/>
              </a:rPr>
              <a:t>Vehicle.stop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();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464820"/>
          </a:xfrm>
        </p:spPr>
        <p:txBody>
          <a:bodyPr>
            <a:normAutofit/>
          </a:bodyPr>
          <a:lstStyle/>
          <a:p>
            <a:r>
              <a:rPr sz="2200" dirty="0"/>
              <a:t>Date and Time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185230"/>
            <a:ext cx="8534402" cy="3880773"/>
          </a:xfrm>
        </p:spPr>
        <p:txBody>
          <a:bodyPr/>
          <a:lstStyle/>
          <a:p>
            <a:endParaRPr dirty="0"/>
          </a:p>
          <a:p>
            <a:r>
              <a:rPr sz="2000" dirty="0">
                <a:solidFill>
                  <a:srgbClr val="000000"/>
                </a:solidFill>
                <a:latin typeface="Times New Roman"/>
              </a:rPr>
              <a:t>New package: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java.time</a:t>
            </a:r>
            <a:br>
              <a:rPr dirty="0"/>
            </a:b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Example:</a:t>
            </a:r>
            <a:br>
              <a:rPr dirty="0"/>
            </a:br>
            <a:r>
              <a:rPr sz="2000" dirty="0" err="1">
                <a:solidFill>
                  <a:srgbClr val="000000"/>
                </a:solidFill>
                <a:latin typeface="Times New Roman"/>
              </a:rPr>
              <a:t>LocalDate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today =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LocalDate.now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();</a:t>
            </a:r>
            <a:br>
              <a:rPr dirty="0"/>
            </a:br>
            <a:r>
              <a:rPr sz="2000" dirty="0" err="1">
                <a:solidFill>
                  <a:srgbClr val="000000"/>
                </a:solidFill>
                <a:latin typeface="Times New Roman"/>
              </a:rPr>
              <a:t>LocalDate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 tomorrow =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today.plusDays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(1);</a:t>
            </a:r>
            <a:br>
              <a:rPr dirty="0"/>
            </a:br>
            <a:r>
              <a:rPr sz="2000" dirty="0" err="1">
                <a:solidFill>
                  <a:srgbClr val="000000"/>
                </a:solidFill>
                <a:latin typeface="Times New Roman"/>
              </a:rPr>
              <a:t>System.out.println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("Today: " + today + " Tomorrow: " + tomorrow);</a:t>
            </a:r>
            <a:br>
              <a:rPr dirty="0"/>
            </a:b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Classes: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LocalDate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LocalTime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LocalDateTime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-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ZonedDateTime</a:t>
            </a:r>
            <a:r>
              <a:rPr sz="2000" dirty="0">
                <a:solidFill>
                  <a:srgbClr val="000000"/>
                </a:solidFill>
                <a:latin typeface="Times New Roman"/>
              </a:rPr>
              <a:t>, Period, Duration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F16853-D4A5-549D-B1FD-E9134CE21EDD}"/>
              </a:ext>
            </a:extLst>
          </p:cNvPr>
          <p:cNvSpPr txBox="1"/>
          <p:nvPr/>
        </p:nvSpPr>
        <p:spPr>
          <a:xfrm>
            <a:off x="158115" y="320308"/>
            <a:ext cx="8543926" cy="14773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lang="en-US" b="1" dirty="0"/>
              <a:t>Streams can be processed in two ways: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Sequential Stream</a:t>
            </a:r>
            <a:r>
              <a:rPr lang="en-US" dirty="0"/>
              <a:t> – elements are processed </a:t>
            </a:r>
            <a:r>
              <a:rPr lang="en-US" b="1" dirty="0"/>
              <a:t>one after another</a:t>
            </a:r>
            <a:r>
              <a:rPr lang="en-US" dirty="0"/>
              <a:t> in a single thread.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Parallel Stream</a:t>
            </a:r>
            <a:r>
              <a:rPr lang="en-US" dirty="0"/>
              <a:t> – elements are processed </a:t>
            </a:r>
            <a:r>
              <a:rPr lang="en-US" b="1" dirty="0"/>
              <a:t>in parallel</a:t>
            </a:r>
            <a:r>
              <a:rPr lang="en-US" dirty="0"/>
              <a:t> using </a:t>
            </a:r>
            <a:r>
              <a:rPr lang="en-US" b="1" dirty="0"/>
              <a:t>multiple threads</a:t>
            </a:r>
            <a:r>
              <a:rPr lang="en-US" dirty="0"/>
              <a:t> (fork/join framework), which can improve performance for large data sets.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05CCCB-EE7D-CAF2-8512-18A898C714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370325"/>
              </p:ext>
            </p:extLst>
          </p:nvPr>
        </p:nvGraphicFramePr>
        <p:xfrm>
          <a:off x="289560" y="2158489"/>
          <a:ext cx="8031480" cy="3882276"/>
        </p:xfrm>
        <a:graphic>
          <a:graphicData uri="http://schemas.openxmlformats.org/drawingml/2006/table">
            <a:tbl>
              <a:tblPr/>
              <a:tblGrid>
                <a:gridCol w="2677160">
                  <a:extLst>
                    <a:ext uri="{9D8B030D-6E8A-4147-A177-3AD203B41FA5}">
                      <a16:colId xmlns:a16="http://schemas.microsoft.com/office/drawing/2014/main" val="504634783"/>
                    </a:ext>
                  </a:extLst>
                </a:gridCol>
                <a:gridCol w="2677160">
                  <a:extLst>
                    <a:ext uri="{9D8B030D-6E8A-4147-A177-3AD203B41FA5}">
                      <a16:colId xmlns:a16="http://schemas.microsoft.com/office/drawing/2014/main" val="4212126535"/>
                    </a:ext>
                  </a:extLst>
                </a:gridCol>
                <a:gridCol w="2677160">
                  <a:extLst>
                    <a:ext uri="{9D8B030D-6E8A-4147-A177-3AD203B41FA5}">
                      <a16:colId xmlns:a16="http://schemas.microsoft.com/office/drawing/2014/main" val="1164654907"/>
                    </a:ext>
                  </a:extLst>
                </a:gridCol>
              </a:tblGrid>
              <a:tr h="3044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Feature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Sequential Stream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Parallel Stream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61560"/>
                  </a:ext>
                </a:extLst>
              </a:tr>
              <a:tr h="532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Threading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Single thread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Multiple threads (Fork/Join)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9132266"/>
                  </a:ext>
                </a:extLst>
              </a:tr>
              <a:tr h="532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Order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Maintains order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May not maintain order by default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3935868"/>
                  </a:ext>
                </a:extLst>
              </a:tr>
              <a:tr h="761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Performance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Small datasets, simpler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Large datasets, better performance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4991113"/>
                  </a:ext>
                </a:extLst>
              </a:tr>
              <a:tr h="9893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Creation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>
                          <a:latin typeface="Courier New" panose="02070309020205020404" pitchFamily="49" charset="0"/>
                        </a:rPr>
                        <a:t>stream()</a:t>
                      </a:r>
                      <a:endParaRPr lang="en-IN" sz="1500"/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 err="1">
                          <a:latin typeface="Courier New" panose="02070309020205020404" pitchFamily="49" charset="0"/>
                        </a:rPr>
                        <a:t>parallelStream</a:t>
                      </a:r>
                      <a:r>
                        <a:rPr lang="en-IN" sz="1500" dirty="0">
                          <a:latin typeface="Courier New" panose="02070309020205020404" pitchFamily="49" charset="0"/>
                        </a:rPr>
                        <a:t>()</a:t>
                      </a:r>
                      <a:r>
                        <a:rPr lang="en-IN" sz="1500" dirty="0"/>
                        <a:t> or </a:t>
                      </a:r>
                      <a:r>
                        <a:rPr lang="en-IN" sz="1500" dirty="0">
                          <a:latin typeface="Courier New" panose="02070309020205020404" pitchFamily="49" charset="0"/>
                        </a:rPr>
                        <a:t>stream().parallel()</a:t>
                      </a:r>
                      <a:endParaRPr lang="en-IN" sz="1500" dirty="0"/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3831641"/>
                  </a:ext>
                </a:extLst>
              </a:tr>
              <a:tr h="7610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Use Case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/>
                        <a:t>When order matters or small data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/>
                        <a:t>When CPU intensive, large data</a:t>
                      </a:r>
                    </a:p>
                  </a:txBody>
                  <a:tcPr marL="76107" marR="76107" marT="38053" marB="380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3935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85096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EE6158-D6C7-B6DB-F70E-5AB2E58F4C11}"/>
              </a:ext>
            </a:extLst>
          </p:cNvPr>
          <p:cNvSpPr txBox="1"/>
          <p:nvPr/>
        </p:nvSpPr>
        <p:spPr>
          <a:xfrm>
            <a:off x="91440" y="381774"/>
            <a:ext cx="858774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3. Parallel Stream</a:t>
            </a:r>
          </a:p>
          <a:p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</a:t>
            </a:r>
          </a:p>
          <a:p>
            <a:r>
              <a:rPr lang="en-IN" dirty="0"/>
              <a:t>import </a:t>
            </a:r>
            <a:r>
              <a:rPr lang="en-IN" dirty="0" err="1"/>
              <a:t>java.util.stream</a:t>
            </a:r>
            <a:r>
              <a:rPr lang="en-IN" dirty="0"/>
              <a:t>.*;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ParallelStreamExample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List&lt;Integer&gt; numbers = </a:t>
            </a:r>
            <a:r>
              <a:rPr lang="en-IN" dirty="0" err="1"/>
              <a:t>Arrays.asList</a:t>
            </a:r>
            <a:r>
              <a:rPr lang="en-IN" dirty="0"/>
              <a:t>(1, 2, 3, 4, 5, 6, 7, 8, 9, 10);</a:t>
            </a:r>
          </a:p>
          <a:p>
            <a:endParaRPr lang="en-IN" dirty="0"/>
          </a:p>
          <a:p>
            <a:r>
              <a:rPr lang="en-IN" dirty="0"/>
              <a:t>        int sum = </a:t>
            </a:r>
            <a:r>
              <a:rPr lang="en-IN" dirty="0" err="1"/>
              <a:t>numbers.parallelStream</a:t>
            </a:r>
            <a:r>
              <a:rPr lang="en-IN" dirty="0"/>
              <a:t>() // parallel stream</a:t>
            </a:r>
          </a:p>
          <a:p>
            <a:r>
              <a:rPr lang="en-IN" dirty="0"/>
              <a:t>                         .filter(n -&gt; n % 2 == 0)</a:t>
            </a:r>
          </a:p>
          <a:p>
            <a:r>
              <a:rPr lang="en-IN" dirty="0"/>
              <a:t>                         .</a:t>
            </a:r>
            <a:r>
              <a:rPr lang="en-IN" dirty="0" err="1"/>
              <a:t>mapToInt</a:t>
            </a:r>
            <a:r>
              <a:rPr lang="en-IN" dirty="0"/>
              <a:t>(Integer::</a:t>
            </a:r>
            <a:r>
              <a:rPr lang="en-IN" dirty="0" err="1"/>
              <a:t>intValue</a:t>
            </a:r>
            <a:r>
              <a:rPr lang="en-IN" dirty="0"/>
              <a:t>)</a:t>
            </a:r>
          </a:p>
          <a:p>
            <a:r>
              <a:rPr lang="en-IN" dirty="0"/>
              <a:t>                         .sum();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("Sum of even numbers (parallel): " + sum);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200493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FEC52D-F031-F57E-EB42-DD559321677B}"/>
              </a:ext>
            </a:extLst>
          </p:cNvPr>
          <p:cNvSpPr txBox="1"/>
          <p:nvPr/>
        </p:nvSpPr>
        <p:spPr>
          <a:xfrm>
            <a:off x="259080" y="201156"/>
            <a:ext cx="877824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5. Tricky Example: Printing Thread Names</a:t>
            </a:r>
          </a:p>
          <a:p>
            <a:endParaRPr lang="en-IN" dirty="0"/>
          </a:p>
          <a:p>
            <a:r>
              <a:rPr lang="en-IN" dirty="0"/>
              <a:t>import </a:t>
            </a:r>
            <a:r>
              <a:rPr lang="en-IN" dirty="0" err="1"/>
              <a:t>java.util</a:t>
            </a:r>
            <a:r>
              <a:rPr lang="en-IN" dirty="0"/>
              <a:t>.*;</a:t>
            </a:r>
          </a:p>
          <a:p>
            <a:r>
              <a:rPr lang="en-IN" dirty="0"/>
              <a:t>import </a:t>
            </a:r>
            <a:r>
              <a:rPr lang="en-IN" dirty="0" err="1"/>
              <a:t>java.util.stream</a:t>
            </a:r>
            <a:r>
              <a:rPr lang="en-IN" dirty="0"/>
              <a:t>.*;</a:t>
            </a:r>
          </a:p>
          <a:p>
            <a:endParaRPr lang="en-IN" dirty="0"/>
          </a:p>
          <a:p>
            <a:r>
              <a:rPr lang="en-IN" dirty="0"/>
              <a:t>public class </a:t>
            </a:r>
            <a:r>
              <a:rPr lang="en-IN" dirty="0" err="1"/>
              <a:t>ThreadExample</a:t>
            </a:r>
            <a:r>
              <a:rPr lang="en-IN" dirty="0"/>
              <a:t>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r>
              <a:rPr lang="en-IN" dirty="0"/>
              <a:t>        List&lt;Integer&gt; numbers = </a:t>
            </a:r>
            <a:r>
              <a:rPr lang="en-IN" dirty="0" err="1"/>
              <a:t>Arrays.asList</a:t>
            </a:r>
            <a:r>
              <a:rPr lang="en-IN" dirty="0"/>
              <a:t>(1, 2, 3, 4, 5);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("Sequential Stream:");</a:t>
            </a:r>
          </a:p>
          <a:p>
            <a:r>
              <a:rPr lang="en-IN" dirty="0"/>
              <a:t>        </a:t>
            </a:r>
            <a:r>
              <a:rPr lang="en-IN" dirty="0" err="1"/>
              <a:t>numbers.stream</a:t>
            </a:r>
            <a:r>
              <a:rPr lang="en-IN" dirty="0"/>
              <a:t>()</a:t>
            </a:r>
          </a:p>
          <a:p>
            <a:r>
              <a:rPr lang="en-IN" dirty="0"/>
              <a:t>               .</a:t>
            </a:r>
            <a:r>
              <a:rPr lang="en-IN" dirty="0" err="1"/>
              <a:t>forEach</a:t>
            </a:r>
            <a:r>
              <a:rPr lang="en-IN" dirty="0"/>
              <a:t>(n -&gt; </a:t>
            </a:r>
            <a:r>
              <a:rPr lang="en-IN" dirty="0" err="1"/>
              <a:t>System.out.println</a:t>
            </a:r>
            <a:r>
              <a:rPr lang="en-IN" dirty="0"/>
              <a:t>(n + " processed by " + </a:t>
            </a:r>
            <a:r>
              <a:rPr lang="en-IN" dirty="0" err="1"/>
              <a:t>Thread.currentThread</a:t>
            </a:r>
            <a:r>
              <a:rPr lang="en-IN" dirty="0"/>
              <a:t>().</a:t>
            </a:r>
            <a:r>
              <a:rPr lang="en-IN" dirty="0" err="1"/>
              <a:t>getName</a:t>
            </a:r>
            <a:r>
              <a:rPr lang="en-IN" dirty="0"/>
              <a:t>()));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("\</a:t>
            </a:r>
            <a:r>
              <a:rPr lang="en-IN" dirty="0" err="1"/>
              <a:t>nParallel</a:t>
            </a:r>
            <a:r>
              <a:rPr lang="en-IN" dirty="0"/>
              <a:t> Stream:");</a:t>
            </a:r>
          </a:p>
          <a:p>
            <a:r>
              <a:rPr lang="en-IN" dirty="0"/>
              <a:t>        </a:t>
            </a:r>
            <a:r>
              <a:rPr lang="en-IN" dirty="0" err="1"/>
              <a:t>numbers.parallelStream</a:t>
            </a:r>
            <a:r>
              <a:rPr lang="en-IN" dirty="0"/>
              <a:t>()</a:t>
            </a:r>
          </a:p>
          <a:p>
            <a:r>
              <a:rPr lang="en-IN" dirty="0"/>
              <a:t>               .</a:t>
            </a:r>
            <a:r>
              <a:rPr lang="en-IN" dirty="0" err="1"/>
              <a:t>forEach</a:t>
            </a:r>
            <a:r>
              <a:rPr lang="en-IN" dirty="0"/>
              <a:t>(n -&gt; </a:t>
            </a:r>
            <a:r>
              <a:rPr lang="en-IN" dirty="0" err="1"/>
              <a:t>System.out.println</a:t>
            </a:r>
            <a:r>
              <a:rPr lang="en-IN" dirty="0"/>
              <a:t>(n + " processed by " + </a:t>
            </a:r>
            <a:r>
              <a:rPr lang="en-IN" dirty="0" err="1"/>
              <a:t>Thread.currentThread</a:t>
            </a:r>
            <a:r>
              <a:rPr lang="en-IN" dirty="0"/>
              <a:t>().</a:t>
            </a:r>
            <a:r>
              <a:rPr lang="en-IN" dirty="0" err="1"/>
              <a:t>getName</a:t>
            </a:r>
            <a:r>
              <a:rPr lang="en-IN" dirty="0"/>
              <a:t>()));    }  }</a:t>
            </a:r>
          </a:p>
        </p:txBody>
      </p:sp>
    </p:spTree>
    <p:extLst>
      <p:ext uri="{BB962C8B-B14F-4D97-AF65-F5344CB8AC3E}">
        <p14:creationId xmlns:p14="http://schemas.microsoft.com/office/powerpoint/2010/main" val="37415851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Collectors &amp; Parallel 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58" y="1488613"/>
            <a:ext cx="7818121" cy="3880773"/>
          </a:xfrm>
        </p:spPr>
        <p:txBody>
          <a:bodyPr/>
          <a:lstStyle/>
          <a:p>
            <a:endParaRPr/>
          </a:p>
          <a:p>
            <a:r>
              <a:rPr sz="2000">
                <a:solidFill>
                  <a:srgbClr val="000000"/>
                </a:solidFill>
                <a:latin typeface="Times New Roman"/>
              </a:rPr>
              <a:t>Collectors help collect Stream results.</a:t>
            </a:r>
            <a:br/>
            <a:r>
              <a:rPr sz="2000">
                <a:solidFill>
                  <a:srgbClr val="000000"/>
                </a:solidFill>
                <a:latin typeface="Times New Roman"/>
              </a:rPr>
              <a:t>Example:</a:t>
            </a:r>
            <a:br/>
            <a:r>
              <a:rPr sz="2000">
                <a:solidFill>
                  <a:srgbClr val="000000"/>
                </a:solidFill>
                <a:latin typeface="Times New Roman"/>
              </a:rPr>
              <a:t>List&lt;String&gt; names = people.stream()</a:t>
            </a:r>
            <a:br/>
            <a:r>
              <a:rPr sz="2000">
                <a:solidFill>
                  <a:srgbClr val="000000"/>
                </a:solidFill>
                <a:latin typeface="Times New Roman"/>
              </a:rPr>
              <a:t>  .map(Person::getName)</a:t>
            </a:r>
            <a:br/>
            <a:r>
              <a:rPr sz="2000">
                <a:solidFill>
                  <a:srgbClr val="000000"/>
                </a:solidFill>
                <a:latin typeface="Times New Roman"/>
              </a:rPr>
              <a:t>  .collect(Collectors.toList());</a:t>
            </a:r>
            <a:br/>
            <a:br/>
            <a:r>
              <a:rPr sz="2000">
                <a:solidFill>
                  <a:srgbClr val="000000"/>
                </a:solidFill>
                <a:latin typeface="Times New Roman"/>
              </a:rPr>
              <a:t>Parallel Streams:</a:t>
            </a:r>
            <a:br/>
            <a:r>
              <a:rPr sz="2000">
                <a:solidFill>
                  <a:srgbClr val="000000"/>
                </a:solidFill>
                <a:latin typeface="Times New Roman"/>
              </a:rPr>
              <a:t>names.parallelStream().forEach(System.out::println);</a:t>
            </a:r>
            <a:br/>
            <a:r>
              <a:rPr sz="2000">
                <a:solidFill>
                  <a:srgbClr val="000000"/>
                </a:solidFill>
                <a:latin typeface="Times New Roman"/>
              </a:rPr>
              <a:t>Improves performance on multi-core systems.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299" y="1488613"/>
            <a:ext cx="6347714" cy="3880773"/>
          </a:xfrm>
        </p:spPr>
        <p:txBody>
          <a:bodyPr/>
          <a:lstStyle/>
          <a:p>
            <a:endParaRPr dirty="0"/>
          </a:p>
          <a:p>
            <a:r>
              <a:rPr sz="2000" dirty="0">
                <a:solidFill>
                  <a:srgbClr val="000000"/>
                </a:solidFill>
                <a:latin typeface="Times New Roman"/>
              </a:rPr>
              <a:t>Java 8 revolutionized Java development by introducing: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- Functional programming paradigm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- Stream-based data processing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- Optional for null-safety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- Modern Date/Time API</a:t>
            </a: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- Asynchronous features with </a:t>
            </a:r>
            <a:r>
              <a:rPr sz="2000" dirty="0" err="1">
                <a:solidFill>
                  <a:srgbClr val="000000"/>
                </a:solidFill>
                <a:latin typeface="Times New Roman"/>
              </a:rPr>
              <a:t>CompletableFuture</a:t>
            </a:r>
            <a:br>
              <a:rPr dirty="0"/>
            </a:br>
            <a:br>
              <a:rPr dirty="0"/>
            </a:br>
            <a:r>
              <a:rPr sz="2000" dirty="0">
                <a:solidFill>
                  <a:srgbClr val="000000"/>
                </a:solidFill>
                <a:latin typeface="Times New Roman"/>
              </a:rPr>
              <a:t>Java 8 is a foundation for all modern Java versions.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72</TotalTime>
  <Words>4191</Words>
  <Application>Microsoft Office PowerPoint</Application>
  <PresentationFormat>On-screen Show (4:3)</PresentationFormat>
  <Paragraphs>526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Courier New</vt:lpstr>
      <vt:lpstr>Times New Roman</vt:lpstr>
      <vt:lpstr>Trebuchet MS</vt:lpstr>
      <vt:lpstr>Wingdings 3</vt:lpstr>
      <vt:lpstr>Facet</vt:lpstr>
      <vt:lpstr>Java 8 Overview</vt:lpstr>
      <vt:lpstr>Lambda Expressions</vt:lpstr>
      <vt:lpstr>PowerPoint Presentation</vt:lpstr>
      <vt:lpstr>PowerPoint Presentation</vt:lpstr>
      <vt:lpstr>PowerPoint Presentation</vt:lpstr>
      <vt:lpstr>PowerPoint Presentation</vt:lpstr>
      <vt:lpstr>Functional Interfaces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 References</vt:lpstr>
      <vt:lpstr>PowerPoint Presentation</vt:lpstr>
      <vt:lpstr>PowerPoint Presentation</vt:lpstr>
      <vt:lpstr>PowerPoint Presentation</vt:lpstr>
      <vt:lpstr>PowerPoint Presentation</vt:lpstr>
      <vt:lpstr>Stream API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Optional Class</vt:lpstr>
      <vt:lpstr>Default and Static Methods</vt:lpstr>
      <vt:lpstr>Date and Time API</vt:lpstr>
      <vt:lpstr>PowerPoint Presentation</vt:lpstr>
      <vt:lpstr>PowerPoint Presentation</vt:lpstr>
      <vt:lpstr>PowerPoint Presentation</vt:lpstr>
      <vt:lpstr>Collectors &amp; Parallel Streams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Ranjit Bhosale</cp:lastModifiedBy>
  <cp:revision>32</cp:revision>
  <dcterms:created xsi:type="dcterms:W3CDTF">2013-01-27T09:14:16Z</dcterms:created>
  <dcterms:modified xsi:type="dcterms:W3CDTF">2025-10-11T06:11:42Z</dcterms:modified>
  <cp:category/>
</cp:coreProperties>
</file>